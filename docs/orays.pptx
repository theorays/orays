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8.png" ContentType="image/png"/>
  <Override PartName="/ppt/media/image12.png" ContentType="image/png"/>
  <Override PartName="/ppt/media/image3.png" ContentType="image/png"/>
  <Override PartName="/ppt/media/image9.png" ContentType="image/png"/>
  <Override PartName="/ppt/media/image13.png" ContentType="image/png"/>
  <Override PartName="/ppt/media/image4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9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</p:sldMasterIdLst>
  <p:notesMasterIdLst>
    <p:notesMasterId r:id="rId26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65" r:id="rId36"/>
    <p:sldId id="266" r:id="rId37"/>
    <p:sldId id="267" r:id="rId38"/>
    <p:sldId id="268" r:id="rId39"/>
    <p:sldId id="269" r:id="rId40"/>
    <p:sldId id="270" r:id="rId41"/>
    <p:sldId id="271" r:id="rId42"/>
    <p:sldId id="272" r:id="rId43"/>
    <p:sldId id="273" r:id="rId44"/>
    <p:sldId id="274" r:id="rId45"/>
    <p:sldId id="275" r:id="rId46"/>
    <p:sldId id="276" r:id="rId47"/>
    <p:sldId id="277" r:id="rId48"/>
    <p:sldId id="278" r:id="rId4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notesMaster" Target="notesMasters/notesMaster1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20.xml"/><Relationship Id="rId47" Type="http://schemas.openxmlformats.org/officeDocument/2006/relationships/slide" Target="slides/slide21.xml"/><Relationship Id="rId48" Type="http://schemas.openxmlformats.org/officeDocument/2006/relationships/slide" Target="slides/slide22.xml"/><Relationship Id="rId49" Type="http://schemas.openxmlformats.org/officeDocument/2006/relationships/slide" Target="slides/slide23.xml"/><Relationship Id="rId5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zh-CN" sz="4400" spc="-1" strike="noStrike">
                <a:solidFill>
                  <a:srgbClr val="000000"/>
                </a:solidFill>
                <a:latin typeface="Arial"/>
              </a:rPr>
              <a:t>单击以移动幻灯片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点击编辑备注格式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&lt;页眉&gt;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 type="dt" idx="6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PlaceHolder 5"/>
          <p:cNvSpPr>
            <a:spLocks noGrp="1"/>
          </p:cNvSpPr>
          <p:nvPr>
            <p:ph type="ftr" idx="6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PlaceHolder 6"/>
          <p:cNvSpPr>
            <a:spLocks noGrp="1"/>
          </p:cNvSpPr>
          <p:nvPr>
            <p:ph type="sldNum" idx="6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8110E5C-C466-4FFD-986A-781A7AC9F146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B4D8744-E9CB-41AB-864A-0CB18B0590B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CC6FD55-0F1A-416F-8525-A19C4791EB4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EC706FC-70B4-484E-8271-14B7EF4C4A8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4BE9C82-80B8-42CE-89CB-10FC17F5380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79CBF97-48D3-4588-87EA-A5285011B1D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D0FF7E2-E56B-4E29-AA81-C50978AD100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A682A7F-8E37-4AD9-9FA0-FB4964D43A2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BE5AC9A-15DF-4777-98B9-2A025C8D73D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109BBEA-7C27-41EF-968A-626924E9EF5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默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CFD3226-41B4-4FCC-AAE8-0F8BC09C905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默认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FBF6722-50A2-4098-87FD-9727F131B1A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默认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FFB9EDD8-CD17-4EA7-8E32-4C1E4FBB153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默认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40CD408-BB11-4D45-8AC4-EFE218A1959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65B463DF-8692-4BA6-A199-FC841A851FC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默认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952D2CB6-57A2-47EE-BA80-4B25DC1CA3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05698F5A-846E-4D9C-9363-D2749FEE9C2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默认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67BFF112-AF41-4DB9-B228-BE0CEAAAAF8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C5C28122-B8D5-42BD-9678-856590FF0FA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2A9CA4B0-AFB8-40CA-B9DD-424B466F14E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默认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81B11DF2-6A44-46B6-838A-77535B86D41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默认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7C592A3D-2057-4424-B8BB-C50F6E8B0C8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5"/>
          </p:nvPr>
        </p:nvSpPr>
        <p:spPr/>
        <p:txBody>
          <a:bodyPr/>
          <a:p>
            <a:fld id="{C5D9991B-33AB-48F6-9988-35DB8896918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6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zh-CN" sz="4400" spc="-1" strike="noStrike">
                <a:solidFill>
                  <a:srgbClr val="000000"/>
                </a:solidFill>
                <a:latin typeface="Arial"/>
              </a:rPr>
              <a:t>单击以编辑标</a:t>
            </a:r>
            <a:r>
              <a:rPr b="0" lang="zh-CN" sz="4400" spc="-1" strike="noStrike">
                <a:solidFill>
                  <a:srgbClr val="000000"/>
                </a:solidFill>
                <a:latin typeface="Arial"/>
              </a:rPr>
              <a:t>题文本格式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2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2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4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6A046D6E-6DFC-44BD-A4E1-6A81A5E173B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C963C45E-CD3F-4643-944D-732645D69ED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B3C47233-99A6-4351-9FD2-E5688AC26B8A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34DE2988-8FE1-4BA4-8579-0EDA02D786F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E4068C37-5B22-48A0-841D-06D18583F256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F55BCD7E-A62C-4AB2-BAC5-5039B888372D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92B0A9F6-50FA-40E3-A4E2-09E3BE5A01EB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0541D2AB-C4F6-420A-A156-E4676999D8A2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4E5EDD0A-0FF9-4A92-BC34-8A246FBD1DC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196F4F63-AA94-4D7C-A246-479CC756C8D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38B9FE60-C53B-4A37-AC0A-252EDA589BD8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36249F5E-78E5-4FA7-AC6A-B795075B03A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020862CA-9761-4F9B-8715-3865F05B86D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4F4DAABE-6415-4F6A-BD97-27BA6FF2B6F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FEBEF2D9-A195-4F6E-9DDD-880115289CFE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CE6E0166-9384-4272-A6CE-E749D986271C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0485E235-AF64-4457-A4DB-7A06834F442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FA7214D3-E4AB-46DE-94DE-77688DE703B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F2D85AA4-B76B-4326-B039-A8EC33571B9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42A57086-D93A-4089-97FE-4863977E4162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PlaceHolder 4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90317C5-5585-4D03-8211-CCD9CB19B6D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PlaceHolder 5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7F8B12E1-5D6E-4230-9389-4F3A94FDCFA2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zh-CN" sz="44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2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2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4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cover-bg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1" name="cover-cscc-logo" descr=""/>
          <p:cNvPicPr/>
          <p:nvPr/>
        </p:nvPicPr>
        <p:blipFill>
          <a:blip r:embed="rId1"/>
          <a:stretch/>
        </p:blipFill>
        <p:spPr>
          <a:xfrm>
            <a:off x="259920" y="164880"/>
            <a:ext cx="2149560" cy="457560"/>
          </a:xfrm>
          <a:prstGeom prst="rect">
            <a:avLst/>
          </a:prstGeom>
          <a:ln w="0">
            <a:noFill/>
          </a:ln>
        </p:spPr>
      </p:pic>
      <p:pic>
        <p:nvPicPr>
          <p:cNvPr id="112" name="cover-hzdu-logo" descr=""/>
          <p:cNvPicPr/>
          <p:nvPr/>
        </p:nvPicPr>
        <p:blipFill>
          <a:blip r:embed="rId2"/>
          <a:stretch/>
        </p:blipFill>
        <p:spPr>
          <a:xfrm>
            <a:off x="8492040" y="114840"/>
            <a:ext cx="3349800" cy="789480"/>
          </a:xfrm>
          <a:prstGeom prst="rect">
            <a:avLst/>
          </a:prstGeom>
          <a:ln w="0">
            <a:noFill/>
          </a:ln>
        </p:spPr>
      </p:pic>
      <p:sp>
        <p:nvSpPr>
          <p:cNvPr id="113" name="cover-shadow"/>
          <p:cNvSpPr/>
          <p:nvPr/>
        </p:nvSpPr>
        <p:spPr>
          <a:xfrm>
            <a:off x="1159920" y="2270160"/>
            <a:ext cx="9871560" cy="1899720"/>
          </a:xfrm>
          <a:prstGeom prst="rect">
            <a:avLst/>
          </a:prstGeom>
          <a:solidFill>
            <a:srgbClr val="d5d5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" name="cover-blue-band" descr=""/>
          <p:cNvPicPr/>
          <p:nvPr/>
        </p:nvPicPr>
        <p:blipFill>
          <a:blip r:embed="rId3"/>
          <a:stretch/>
        </p:blipFill>
        <p:spPr>
          <a:xfrm>
            <a:off x="360" y="2260440"/>
            <a:ext cx="12191760" cy="2419560"/>
          </a:xfrm>
          <a:prstGeom prst="rect">
            <a:avLst/>
          </a:prstGeom>
          <a:ln w="0">
            <a:noFill/>
          </a:ln>
        </p:spPr>
      </p:pic>
      <p:sp>
        <p:nvSpPr>
          <p:cNvPr id="115" name="cover-title"/>
          <p:cNvSpPr/>
          <p:nvPr/>
        </p:nvSpPr>
        <p:spPr>
          <a:xfrm>
            <a:off x="1029960" y="2810160"/>
            <a:ext cx="10131480" cy="91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56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OrayS OS</a:t>
            </a: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cover-subtitle"/>
          <p:cNvSpPr/>
          <p:nvPr/>
        </p:nvSpPr>
        <p:spPr>
          <a:xfrm>
            <a:off x="3960000" y="3820320"/>
            <a:ext cx="1029168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900" spc="-1" strike="noStrike">
                <a:solidFill>
                  <a:srgbClr val="eaf6ff"/>
                </a:solidFill>
                <a:latin typeface="Microsoft YaHei"/>
                <a:ea typeface="Microsoft YaHei"/>
              </a:rPr>
              <a:t>——</a:t>
            </a:r>
            <a:r>
              <a:rPr b="0" lang="zh-CN" sz="1900" spc="-1" strike="noStrike">
                <a:solidFill>
                  <a:srgbClr val="eaf6ff"/>
                </a:solidFill>
                <a:latin typeface="Microsoft YaHei"/>
                <a:ea typeface="Microsoft YaHei"/>
              </a:rPr>
              <a:t>基于组件化操作系统</a:t>
            </a:r>
            <a:r>
              <a:rPr b="0" lang="en-US" sz="1900" spc="-1" strike="noStrike">
                <a:solidFill>
                  <a:srgbClr val="eaf6ff"/>
                </a:solidFill>
                <a:latin typeface="Microsoft YaHei"/>
                <a:ea typeface="Microsoft YaHei"/>
              </a:rPr>
              <a:t>ArceOS </a:t>
            </a:r>
            <a:r>
              <a:rPr b="0" lang="zh-CN" sz="1900" spc="-1" strike="noStrike">
                <a:solidFill>
                  <a:srgbClr val="eaf6ff"/>
                </a:solidFill>
                <a:latin typeface="Microsoft YaHei"/>
                <a:ea typeface="Microsoft YaHei"/>
              </a:rPr>
              <a:t>的模块化宏内核扩展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cover-course"/>
          <p:cNvSpPr/>
          <p:nvPr/>
        </p:nvSpPr>
        <p:spPr>
          <a:xfrm>
            <a:off x="3650040" y="5150160"/>
            <a:ext cx="461952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170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OSKernel 2026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cover-school"/>
          <p:cNvSpPr/>
          <p:nvPr/>
        </p:nvSpPr>
        <p:spPr>
          <a:xfrm>
            <a:off x="6099840" y="5749920"/>
            <a:ext cx="499968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</a:pPr>
            <a:r>
              <a:rPr b="1" lang="zh-CN" sz="1800" spc="-1" strike="noStrike">
                <a:solidFill>
                  <a:srgbClr val="111111"/>
                </a:solidFill>
                <a:latin typeface="Microsoft YaHei"/>
                <a:ea typeface="Microsoft YaHei"/>
              </a:rPr>
              <a:t>杭州电子科技大学：王正卓、胡亿炜、何漫漫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 52"/>
          <p:cNvSpPr/>
          <p:nvPr/>
        </p:nvSpPr>
        <p:spPr>
          <a:xfrm>
            <a:off x="2520" y="-360000"/>
            <a:ext cx="12188880" cy="72172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pic>
        <p:nvPicPr>
          <p:cNvPr id="120" name="StarryXStyle-cscc-logo" descr=""/>
          <p:cNvPicPr/>
          <p:nvPr/>
        </p:nvPicPr>
        <p:blipFill>
          <a:blip r:embed="rId1"/>
          <a:stretch/>
        </p:blipFill>
        <p:spPr>
          <a:xfrm>
            <a:off x="219960" y="-180000"/>
            <a:ext cx="1848600" cy="388440"/>
          </a:xfrm>
          <a:prstGeom prst="rect">
            <a:avLst/>
          </a:prstGeom>
          <a:ln w="0">
            <a:noFill/>
          </a:ln>
        </p:spPr>
      </p:pic>
      <p:pic>
        <p:nvPicPr>
          <p:cNvPr id="121" name="StarryXStyle-hzdu-logo" descr=""/>
          <p:cNvPicPr/>
          <p:nvPr/>
        </p:nvPicPr>
        <p:blipFill>
          <a:blip r:embed="rId2"/>
          <a:stretch/>
        </p:blipFill>
        <p:spPr>
          <a:xfrm>
            <a:off x="9141840" y="-245880"/>
            <a:ext cx="2557440" cy="605160"/>
          </a:xfrm>
          <a:prstGeom prst="rect">
            <a:avLst/>
          </a:prstGeom>
          <a:ln w="0">
            <a:noFill/>
          </a:ln>
        </p:spPr>
      </p:pic>
      <p:pic>
        <p:nvPicPr>
          <p:cNvPr id="122" name="StarryXStyle-contents-band" descr=""/>
          <p:cNvPicPr/>
          <p:nvPr/>
        </p:nvPicPr>
        <p:blipFill>
          <a:blip r:embed="rId3"/>
          <a:stretch/>
        </p:blipFill>
        <p:spPr>
          <a:xfrm>
            <a:off x="0" y="1620000"/>
            <a:ext cx="4048560" cy="3228480"/>
          </a:xfrm>
          <a:prstGeom prst="rect">
            <a:avLst/>
          </a:prstGeom>
          <a:ln w="0">
            <a:noFill/>
          </a:ln>
        </p:spPr>
      </p:pic>
      <p:sp>
        <p:nvSpPr>
          <p:cNvPr id="123" name="StarryXStyle-title-cn"/>
          <p:cNvSpPr/>
          <p:nvPr/>
        </p:nvSpPr>
        <p:spPr>
          <a:xfrm>
            <a:off x="690120" y="2779920"/>
            <a:ext cx="1598400" cy="6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38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目 录</a:t>
            </a:r>
            <a:endParaRPr b="0" lang="en-US" sz="3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tarryXStyle-title-en"/>
          <p:cNvSpPr/>
          <p:nvPr/>
        </p:nvSpPr>
        <p:spPr>
          <a:xfrm>
            <a:off x="900000" y="3499920"/>
            <a:ext cx="1248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250" spc="-1" strike="noStrike">
                <a:solidFill>
                  <a:srgbClr val="dceeff"/>
                </a:solidFill>
                <a:latin typeface="Microsoft YaHei"/>
                <a:ea typeface="Microsoft YaHei"/>
              </a:rPr>
              <a:t>CONTENTS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tarryXStyle-toc-num-1"/>
          <p:cNvSpPr/>
          <p:nvPr/>
        </p:nvSpPr>
        <p:spPr>
          <a:xfrm>
            <a:off x="6599880" y="815040"/>
            <a:ext cx="588600" cy="388440"/>
          </a:xfrm>
          <a:prstGeom prst="roundRect">
            <a:avLst>
              <a:gd name="adj" fmla="val 16667"/>
            </a:avLst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StarryXStyle-toc-pill-1"/>
          <p:cNvSpPr/>
          <p:nvPr/>
        </p:nvSpPr>
        <p:spPr>
          <a:xfrm>
            <a:off x="7380000" y="730080"/>
            <a:ext cx="3798720" cy="53856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55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项目概况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StarryXStyle-toc-num-2"/>
          <p:cNvSpPr/>
          <p:nvPr/>
        </p:nvSpPr>
        <p:spPr>
          <a:xfrm>
            <a:off x="6599880" y="1604880"/>
            <a:ext cx="588600" cy="388440"/>
          </a:xfrm>
          <a:prstGeom prst="roundRect">
            <a:avLst>
              <a:gd name="adj" fmla="val 16667"/>
            </a:avLst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StarryXStyle-toc-pill-2"/>
          <p:cNvSpPr/>
          <p:nvPr/>
        </p:nvSpPr>
        <p:spPr>
          <a:xfrm>
            <a:off x="7380000" y="1519920"/>
            <a:ext cx="3798720" cy="53856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55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成果展示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tarryXStyle-toc-num-3"/>
          <p:cNvSpPr/>
          <p:nvPr/>
        </p:nvSpPr>
        <p:spPr>
          <a:xfrm>
            <a:off x="6599880" y="2395080"/>
            <a:ext cx="588600" cy="388440"/>
          </a:xfrm>
          <a:prstGeom prst="roundRect">
            <a:avLst>
              <a:gd name="adj" fmla="val 16667"/>
            </a:avLst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tarryXStyle-toc-pill-3"/>
          <p:cNvSpPr/>
          <p:nvPr/>
        </p:nvSpPr>
        <p:spPr>
          <a:xfrm>
            <a:off x="7380000" y="2310120"/>
            <a:ext cx="3798720" cy="53856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55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架构与兼容路径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StarryXStyle-toc-num-4"/>
          <p:cNvSpPr/>
          <p:nvPr/>
        </p:nvSpPr>
        <p:spPr>
          <a:xfrm>
            <a:off x="6599880" y="3184920"/>
            <a:ext cx="588600" cy="388440"/>
          </a:xfrm>
          <a:prstGeom prst="roundRect">
            <a:avLst>
              <a:gd name="adj" fmla="val 16667"/>
            </a:avLst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StarryXStyle-toc-pill-4"/>
          <p:cNvSpPr/>
          <p:nvPr/>
        </p:nvSpPr>
        <p:spPr>
          <a:xfrm>
            <a:off x="7380000" y="3099960"/>
            <a:ext cx="3798720" cy="53856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55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内存与进程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StarryXStyle-toc-num-5"/>
          <p:cNvSpPr/>
          <p:nvPr/>
        </p:nvSpPr>
        <p:spPr>
          <a:xfrm>
            <a:off x="6599880" y="3975120"/>
            <a:ext cx="588600" cy="388440"/>
          </a:xfrm>
          <a:prstGeom prst="roundRect">
            <a:avLst>
              <a:gd name="adj" fmla="val 16667"/>
            </a:avLst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StarryXStyle-toc-pill-5"/>
          <p:cNvSpPr/>
          <p:nvPr/>
        </p:nvSpPr>
        <p:spPr>
          <a:xfrm>
            <a:off x="7380000" y="3890160"/>
            <a:ext cx="3798720" cy="53856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55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文件系统与 </a:t>
            </a:r>
            <a:r>
              <a:rPr b="1" lang="en-US" sz="155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IPC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StarryXStyle-toc-num-6"/>
          <p:cNvSpPr/>
          <p:nvPr/>
        </p:nvSpPr>
        <p:spPr>
          <a:xfrm>
            <a:off x="6599880" y="4764960"/>
            <a:ext cx="588600" cy="388440"/>
          </a:xfrm>
          <a:prstGeom prst="roundRect">
            <a:avLst>
              <a:gd name="adj" fmla="val 16667"/>
            </a:avLst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tarryXStyle-toc-pill-6"/>
          <p:cNvSpPr/>
          <p:nvPr/>
        </p:nvSpPr>
        <p:spPr>
          <a:xfrm>
            <a:off x="7380000" y="4680000"/>
            <a:ext cx="3798720" cy="53856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55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网络与多架构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tarryXTransition-bg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tarryXTransition-blue-band"/>
          <p:cNvSpPr/>
          <p:nvPr/>
        </p:nvSpPr>
        <p:spPr>
          <a:xfrm>
            <a:off x="0" y="0"/>
            <a:ext cx="12190680" cy="37360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StarryXTransition-blue-shadow"/>
          <p:cNvSpPr/>
          <p:nvPr/>
        </p:nvSpPr>
        <p:spPr>
          <a:xfrm>
            <a:off x="0" y="3669120"/>
            <a:ext cx="12190680" cy="26640"/>
          </a:xfrm>
          <a:prstGeom prst="rect">
            <a:avLst/>
          </a:prstGeom>
          <a:solidFill>
            <a:srgbClr val="00649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920" bIns="-1692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0" name="StarryXTransition-cscc-logo" descr=""/>
          <p:cNvPicPr/>
          <p:nvPr/>
        </p:nvPicPr>
        <p:blipFill>
          <a:blip r:embed="rId1"/>
          <a:stretch/>
        </p:blipFill>
        <p:spPr>
          <a:xfrm>
            <a:off x="97560" y="219600"/>
            <a:ext cx="2949120" cy="608760"/>
          </a:xfrm>
          <a:prstGeom prst="rect">
            <a:avLst/>
          </a:prstGeom>
          <a:ln w="0">
            <a:noFill/>
          </a:ln>
        </p:spPr>
      </p:pic>
      <p:pic>
        <p:nvPicPr>
          <p:cNvPr id="141" name="StarryXTransition-hzdu-logo" descr=""/>
          <p:cNvPicPr/>
          <p:nvPr/>
        </p:nvPicPr>
        <p:blipFill>
          <a:blip r:embed="rId2"/>
          <a:stretch/>
        </p:blipFill>
        <p:spPr>
          <a:xfrm>
            <a:off x="8558640" y="102960"/>
            <a:ext cx="3546360" cy="828360"/>
          </a:xfrm>
          <a:prstGeom prst="rect">
            <a:avLst/>
          </a:prstGeom>
          <a:ln w="0">
            <a:noFill/>
          </a:ln>
        </p:spPr>
      </p:pic>
      <p:sp>
        <p:nvSpPr>
          <p:cNvPr id="142" name="StarryXTransition-part-hex"/>
          <p:cNvSpPr/>
          <p:nvPr/>
        </p:nvSpPr>
        <p:spPr>
          <a:xfrm>
            <a:off x="5157360" y="2983320"/>
            <a:ext cx="1875960" cy="154224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9ec7f1"/>
          </a:solidFill>
          <a:ln w="220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tarryXTransition-part-text"/>
          <p:cNvSpPr/>
          <p:nvPr/>
        </p:nvSpPr>
        <p:spPr>
          <a:xfrm>
            <a:off x="5157360" y="3633120"/>
            <a:ext cx="1875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70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Part.01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tarryXTransition-title"/>
          <p:cNvSpPr/>
          <p:nvPr/>
        </p:nvSpPr>
        <p:spPr>
          <a:xfrm>
            <a:off x="1219320" y="4526280"/>
            <a:ext cx="9752040" cy="10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420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项目概况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 52"/>
          <p:cNvSpPr/>
          <p:nvPr/>
        </p:nvSpPr>
        <p:spPr>
          <a:xfrm>
            <a:off x="1800" y="0"/>
            <a:ext cx="121888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46" name="Title"/>
          <p:cNvSpPr/>
          <p:nvPr/>
        </p:nvSpPr>
        <p:spPr>
          <a:xfrm>
            <a:off x="650160" y="1187280"/>
            <a:ext cx="4198680" cy="4327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zh-CN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项目概况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Body"/>
          <p:cNvSpPr/>
          <p:nvPr/>
        </p:nvSpPr>
        <p:spPr>
          <a:xfrm>
            <a:off x="1260000" y="1980000"/>
            <a:ext cx="4259160" cy="412092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4472c4"/>
            </a:solidFill>
            <a:prstDash val="dash"/>
            <a:miter/>
          </a:ln>
        </p:spPr>
        <p:style>
          <a:lnRef idx="0">
            <a:schemeClr val="accent1"/>
          </a:lnRef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OrayS </a:t>
            </a: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基于 </a:t>
            </a:r>
            <a:r>
              <a:rPr b="0" lang="en-US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ArceOS</a:t>
            </a: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，面向 </a:t>
            </a:r>
            <a:r>
              <a:rPr b="0" lang="en-US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OSKernel 2026 </a:t>
            </a: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评测场景扩展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原始 </a:t>
            </a:r>
            <a:r>
              <a:rPr b="0" lang="en-US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ArceOS </a:t>
            </a: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擅长组件化和多架构，比赛需要进一步运行 </a:t>
            </a:r>
            <a:r>
              <a:rPr b="0" lang="en-US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</a:t>
            </a: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用户程序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我们补齐 </a:t>
            </a:r>
            <a:r>
              <a:rPr b="0" lang="en-US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ELF </a:t>
            </a: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加载、</a:t>
            </a:r>
            <a:r>
              <a:rPr b="0" lang="en-US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syscall</a:t>
            </a: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、进程、</a:t>
            </a:r>
            <a:r>
              <a:rPr b="0" lang="en-US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FD</a:t>
            </a: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mmap</a:t>
            </a: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、信号、</a:t>
            </a:r>
            <a:r>
              <a:rPr b="0" lang="en-US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IPC </a:t>
            </a: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和 </a:t>
            </a:r>
            <a:r>
              <a:rPr b="0" lang="en-US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socket </a:t>
            </a: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等关键路径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重点维护 </a:t>
            </a:r>
            <a:r>
              <a:rPr b="0" lang="en-US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RISC-V64 </a:t>
            </a: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与 </a:t>
            </a:r>
            <a:r>
              <a:rPr b="0" lang="en-US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LoongArch64</a:t>
            </a: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，打通本地和远程评测链路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目标：让 </a:t>
            </a:r>
            <a:r>
              <a:rPr b="0" lang="en-US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</a:t>
            </a:r>
            <a:r>
              <a:rPr b="0" lang="zh-CN" sz="17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程序不是“启动一下”，而是能按可见语义持续运行和被验证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8" name="orays-01-overall-architecture.png" descr=""/>
          <p:cNvPicPr/>
          <p:nvPr/>
        </p:nvPicPr>
        <p:blipFill>
          <a:blip r:embed="rId1"/>
          <a:stretch/>
        </p:blipFill>
        <p:spPr>
          <a:xfrm>
            <a:off x="6256080" y="1875960"/>
            <a:ext cx="4479840" cy="4418280"/>
          </a:xfrm>
          <a:prstGeom prst="rect">
            <a:avLst/>
          </a:prstGeom>
          <a:ln w="0">
            <a:noFill/>
          </a:ln>
        </p:spPr>
      </p:pic>
      <p:sp>
        <p:nvSpPr>
          <p:cNvPr id="149" name="Caption"/>
          <p:cNvSpPr/>
          <p:nvPr/>
        </p:nvSpPr>
        <p:spPr>
          <a:xfrm>
            <a:off x="6572160" y="6295680"/>
            <a:ext cx="3817080" cy="2199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OrayS </a:t>
            </a:r>
            <a:r>
              <a:rPr b="0" lang="zh-CN" sz="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从用户态评测入口到 </a:t>
            </a:r>
            <a:r>
              <a:rPr b="0" lang="en-US" sz="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ABI</a:t>
            </a:r>
            <a:r>
              <a:rPr b="0" lang="zh-CN" sz="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、内核模块和平台 </a:t>
            </a:r>
            <a:r>
              <a:rPr b="0" lang="en-US" sz="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HAL </a:t>
            </a:r>
            <a:r>
              <a:rPr b="0" lang="zh-CN" sz="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的整体路径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0" name="StarryXStyle-header-logo" descr=""/>
          <p:cNvPicPr/>
          <p:nvPr/>
        </p:nvPicPr>
        <p:blipFill>
          <a:blip r:embed="rId2"/>
          <a:stretch/>
        </p:blipFill>
        <p:spPr>
          <a:xfrm>
            <a:off x="150120" y="119880"/>
            <a:ext cx="2548440" cy="608400"/>
          </a:xfrm>
          <a:prstGeom prst="rect">
            <a:avLst/>
          </a:prstGeom>
          <a:ln w="0">
            <a:noFill/>
          </a:ln>
        </p:spPr>
      </p:pic>
      <p:sp>
        <p:nvSpPr>
          <p:cNvPr id="151" name="StarryXStyle-nav-active"/>
          <p:cNvSpPr/>
          <p:nvPr/>
        </p:nvSpPr>
        <p:spPr>
          <a:xfrm>
            <a:off x="4299840" y="0"/>
            <a:ext cx="1083240" cy="7084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StarryXStyle-nav-1"/>
          <p:cNvSpPr/>
          <p:nvPr/>
        </p:nvSpPr>
        <p:spPr>
          <a:xfrm>
            <a:off x="4299840" y="19008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项目概况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tarryXStyle-nav-2"/>
          <p:cNvSpPr/>
          <p:nvPr/>
        </p:nvSpPr>
        <p:spPr>
          <a:xfrm>
            <a:off x="538452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成果展示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tarryXStyle-nav-3"/>
          <p:cNvSpPr/>
          <p:nvPr/>
        </p:nvSpPr>
        <p:spPr>
          <a:xfrm>
            <a:off x="6469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架构兼容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tarryXStyle-nav-4"/>
          <p:cNvSpPr/>
          <p:nvPr/>
        </p:nvSpPr>
        <p:spPr>
          <a:xfrm>
            <a:off x="7553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内存进程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tarryXStyle-nav-5"/>
          <p:cNvSpPr/>
          <p:nvPr/>
        </p:nvSpPr>
        <p:spPr>
          <a:xfrm>
            <a:off x="8638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文件</a:t>
            </a:r>
            <a:r>
              <a:rPr b="0" lang="en-US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IPC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tarryXStyle-nav-6"/>
          <p:cNvSpPr/>
          <p:nvPr/>
        </p:nvSpPr>
        <p:spPr>
          <a:xfrm>
            <a:off x="9722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网络多架构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tarryXStyle-nav-7"/>
          <p:cNvSpPr/>
          <p:nvPr/>
        </p:nvSpPr>
        <p:spPr>
          <a:xfrm>
            <a:off x="1080756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总结展望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tarryXStyle-title-marker"/>
          <p:cNvSpPr/>
          <p:nvPr/>
        </p:nvSpPr>
        <p:spPr>
          <a:xfrm>
            <a:off x="529920" y="1239840"/>
            <a:ext cx="1684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50" spc="-1" strike="noStrike">
                <a:solidFill>
                  <a:srgbClr val="111111"/>
                </a:solidFill>
                <a:latin typeface="Microsoft YaHei"/>
                <a:ea typeface="Microsoft YaHei"/>
              </a:rPr>
              <a:t>&gt;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tarryXTransition-bg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tarryXTransition-blue-band"/>
          <p:cNvSpPr/>
          <p:nvPr/>
        </p:nvSpPr>
        <p:spPr>
          <a:xfrm>
            <a:off x="0" y="0"/>
            <a:ext cx="12190680" cy="37360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StarryXTransition-blue-shadow"/>
          <p:cNvSpPr/>
          <p:nvPr/>
        </p:nvSpPr>
        <p:spPr>
          <a:xfrm>
            <a:off x="0" y="3669120"/>
            <a:ext cx="12190680" cy="26640"/>
          </a:xfrm>
          <a:prstGeom prst="rect">
            <a:avLst/>
          </a:prstGeom>
          <a:solidFill>
            <a:srgbClr val="00649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920" bIns="-1692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3" name="StarryXTransition-cscc-logo" descr=""/>
          <p:cNvPicPr/>
          <p:nvPr/>
        </p:nvPicPr>
        <p:blipFill>
          <a:blip r:embed="rId1"/>
          <a:stretch/>
        </p:blipFill>
        <p:spPr>
          <a:xfrm>
            <a:off x="97560" y="219600"/>
            <a:ext cx="2949120" cy="608760"/>
          </a:xfrm>
          <a:prstGeom prst="rect">
            <a:avLst/>
          </a:prstGeom>
          <a:ln w="0">
            <a:noFill/>
          </a:ln>
        </p:spPr>
      </p:pic>
      <p:pic>
        <p:nvPicPr>
          <p:cNvPr id="164" name="StarryXTransition-hzdu-logo" descr=""/>
          <p:cNvPicPr/>
          <p:nvPr/>
        </p:nvPicPr>
        <p:blipFill>
          <a:blip r:embed="rId2"/>
          <a:stretch/>
        </p:blipFill>
        <p:spPr>
          <a:xfrm>
            <a:off x="8558640" y="102960"/>
            <a:ext cx="3546360" cy="828360"/>
          </a:xfrm>
          <a:prstGeom prst="rect">
            <a:avLst/>
          </a:prstGeom>
          <a:ln w="0">
            <a:noFill/>
          </a:ln>
        </p:spPr>
      </p:pic>
      <p:sp>
        <p:nvSpPr>
          <p:cNvPr id="165" name="StarryXTransition-part-hex"/>
          <p:cNvSpPr/>
          <p:nvPr/>
        </p:nvSpPr>
        <p:spPr>
          <a:xfrm>
            <a:off x="5157360" y="2983320"/>
            <a:ext cx="1875960" cy="154224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9ec7f1"/>
          </a:solidFill>
          <a:ln w="220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tarryXTransition-part-text"/>
          <p:cNvSpPr/>
          <p:nvPr/>
        </p:nvSpPr>
        <p:spPr>
          <a:xfrm>
            <a:off x="5157360" y="3633120"/>
            <a:ext cx="1875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70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Part.02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tarryXTransition-title"/>
          <p:cNvSpPr/>
          <p:nvPr/>
        </p:nvSpPr>
        <p:spPr>
          <a:xfrm>
            <a:off x="1219320" y="4526280"/>
            <a:ext cx="9752040" cy="10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420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成果展示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 52"/>
          <p:cNvSpPr/>
          <p:nvPr/>
        </p:nvSpPr>
        <p:spPr>
          <a:xfrm>
            <a:off x="1800" y="0"/>
            <a:ext cx="121888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69" name="Title"/>
          <p:cNvSpPr/>
          <p:nvPr/>
        </p:nvSpPr>
        <p:spPr>
          <a:xfrm>
            <a:off x="650160" y="1187280"/>
            <a:ext cx="10197720" cy="4327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zh-CN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成果展示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Body"/>
          <p:cNvSpPr/>
          <p:nvPr/>
        </p:nvSpPr>
        <p:spPr>
          <a:xfrm>
            <a:off x="1234440" y="2340000"/>
            <a:ext cx="9774720" cy="264060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4472c4"/>
            </a:solidFill>
            <a:prstDash val="dash"/>
            <a:miter/>
          </a:ln>
        </p:spPr>
        <p:style>
          <a:lnRef idx="0">
            <a:schemeClr val="accent1"/>
          </a:lnRef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从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ArceOS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到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OrayS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保留组件化、多架构、可裁剪的内核基座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补齐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用户程序运行所需的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ABI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环境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打通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RV64 / LA64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的构建、运行和评测链路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核心工作量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ABI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主体约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3.7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万行，覆盖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30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个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uspace Rust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模块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syscall dispatch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覆盖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231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个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syscall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入口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支持进程、内存、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FD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、信号、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IPC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socket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等关键路径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文本框 1"/>
          <p:cNvSpPr/>
          <p:nvPr/>
        </p:nvSpPr>
        <p:spPr>
          <a:xfrm>
            <a:off x="5967720" y="2856240"/>
            <a:ext cx="38188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Microsoft YaHei"/>
              <a:ea typeface="Microsoft YaHei"/>
            </a:endParaRPr>
          </a:p>
        </p:txBody>
      </p:sp>
      <p:pic>
        <p:nvPicPr>
          <p:cNvPr id="172" name="StarryXStyle-header-logo" descr=""/>
          <p:cNvPicPr/>
          <p:nvPr/>
        </p:nvPicPr>
        <p:blipFill>
          <a:blip r:embed="rId1"/>
          <a:stretch/>
        </p:blipFill>
        <p:spPr>
          <a:xfrm>
            <a:off x="150120" y="119880"/>
            <a:ext cx="2548440" cy="608400"/>
          </a:xfrm>
          <a:prstGeom prst="rect">
            <a:avLst/>
          </a:prstGeom>
          <a:ln w="0">
            <a:noFill/>
          </a:ln>
        </p:spPr>
      </p:pic>
      <p:sp>
        <p:nvSpPr>
          <p:cNvPr id="173" name="StarryXStyle-nav-active"/>
          <p:cNvSpPr/>
          <p:nvPr/>
        </p:nvSpPr>
        <p:spPr>
          <a:xfrm>
            <a:off x="5384520" y="0"/>
            <a:ext cx="1083240" cy="7084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StarryXStyle-nav-1"/>
          <p:cNvSpPr/>
          <p:nvPr/>
        </p:nvSpPr>
        <p:spPr>
          <a:xfrm>
            <a:off x="429984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项目概况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tarryXStyle-nav-2"/>
          <p:cNvSpPr/>
          <p:nvPr/>
        </p:nvSpPr>
        <p:spPr>
          <a:xfrm>
            <a:off x="5384520" y="19008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成果展示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tarryXStyle-nav-3"/>
          <p:cNvSpPr/>
          <p:nvPr/>
        </p:nvSpPr>
        <p:spPr>
          <a:xfrm>
            <a:off x="6469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架构兼容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tarryXStyle-nav-4"/>
          <p:cNvSpPr/>
          <p:nvPr/>
        </p:nvSpPr>
        <p:spPr>
          <a:xfrm>
            <a:off x="7553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内存进程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tarryXStyle-nav-5"/>
          <p:cNvSpPr/>
          <p:nvPr/>
        </p:nvSpPr>
        <p:spPr>
          <a:xfrm>
            <a:off x="8638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文件</a:t>
            </a:r>
            <a:r>
              <a:rPr b="0" lang="en-US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IPC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tarryXStyle-nav-6"/>
          <p:cNvSpPr/>
          <p:nvPr/>
        </p:nvSpPr>
        <p:spPr>
          <a:xfrm>
            <a:off x="9722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网络多架构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tarryXStyle-nav-7"/>
          <p:cNvSpPr/>
          <p:nvPr/>
        </p:nvSpPr>
        <p:spPr>
          <a:xfrm>
            <a:off x="1080756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总结展望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tarryXStyle-title-marker"/>
          <p:cNvSpPr/>
          <p:nvPr/>
        </p:nvSpPr>
        <p:spPr>
          <a:xfrm>
            <a:off x="529920" y="1239840"/>
            <a:ext cx="1684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50" spc="-1" strike="noStrike">
                <a:solidFill>
                  <a:srgbClr val="111111"/>
                </a:solidFill>
                <a:latin typeface="Microsoft YaHei"/>
                <a:ea typeface="Microsoft YaHei"/>
              </a:rPr>
              <a:t>&gt;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tarryXTransition-bg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tarryXTransition-blue-band"/>
          <p:cNvSpPr/>
          <p:nvPr/>
        </p:nvSpPr>
        <p:spPr>
          <a:xfrm>
            <a:off x="0" y="0"/>
            <a:ext cx="12190680" cy="37360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StarryXTransition-blue-shadow"/>
          <p:cNvSpPr/>
          <p:nvPr/>
        </p:nvSpPr>
        <p:spPr>
          <a:xfrm>
            <a:off x="0" y="3669120"/>
            <a:ext cx="12190680" cy="26640"/>
          </a:xfrm>
          <a:prstGeom prst="rect">
            <a:avLst/>
          </a:prstGeom>
          <a:solidFill>
            <a:srgbClr val="00649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920" bIns="-1692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5" name="StarryXTransition-cscc-logo" descr=""/>
          <p:cNvPicPr/>
          <p:nvPr/>
        </p:nvPicPr>
        <p:blipFill>
          <a:blip r:embed="rId1"/>
          <a:stretch/>
        </p:blipFill>
        <p:spPr>
          <a:xfrm>
            <a:off x="97560" y="219600"/>
            <a:ext cx="2949120" cy="608760"/>
          </a:xfrm>
          <a:prstGeom prst="rect">
            <a:avLst/>
          </a:prstGeom>
          <a:ln w="0">
            <a:noFill/>
          </a:ln>
        </p:spPr>
      </p:pic>
      <p:pic>
        <p:nvPicPr>
          <p:cNvPr id="186" name="StarryXTransition-hzdu-logo" descr=""/>
          <p:cNvPicPr/>
          <p:nvPr/>
        </p:nvPicPr>
        <p:blipFill>
          <a:blip r:embed="rId2"/>
          <a:stretch/>
        </p:blipFill>
        <p:spPr>
          <a:xfrm>
            <a:off x="8558640" y="102960"/>
            <a:ext cx="3546360" cy="828360"/>
          </a:xfrm>
          <a:prstGeom prst="rect">
            <a:avLst/>
          </a:prstGeom>
          <a:ln w="0">
            <a:noFill/>
          </a:ln>
        </p:spPr>
      </p:pic>
      <p:sp>
        <p:nvSpPr>
          <p:cNvPr id="187" name="StarryXTransition-part-hex"/>
          <p:cNvSpPr/>
          <p:nvPr/>
        </p:nvSpPr>
        <p:spPr>
          <a:xfrm>
            <a:off x="5157360" y="2983320"/>
            <a:ext cx="1875960" cy="154224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9ec7f1"/>
          </a:solidFill>
          <a:ln w="220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tarryXTransition-part-text"/>
          <p:cNvSpPr/>
          <p:nvPr/>
        </p:nvSpPr>
        <p:spPr>
          <a:xfrm>
            <a:off x="5157360" y="3633120"/>
            <a:ext cx="1875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70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Part.03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tarryXTransition-title"/>
          <p:cNvSpPr/>
          <p:nvPr/>
        </p:nvSpPr>
        <p:spPr>
          <a:xfrm>
            <a:off x="1219320" y="4526280"/>
            <a:ext cx="9752040" cy="10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420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架构与兼容路径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 52"/>
          <p:cNvSpPr/>
          <p:nvPr/>
        </p:nvSpPr>
        <p:spPr>
          <a:xfrm>
            <a:off x="1800" y="0"/>
            <a:ext cx="121888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91" name="Title"/>
          <p:cNvSpPr/>
          <p:nvPr/>
        </p:nvSpPr>
        <p:spPr>
          <a:xfrm>
            <a:off x="650160" y="1187280"/>
            <a:ext cx="10197720" cy="4327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zh-CN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架构与模块化设计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Body"/>
          <p:cNvSpPr/>
          <p:nvPr/>
        </p:nvSpPr>
        <p:spPr>
          <a:xfrm>
            <a:off x="1234440" y="2219400"/>
            <a:ext cx="9774720" cy="264060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4472c4"/>
            </a:solidFill>
            <a:prstDash val="dash"/>
            <a:miter/>
          </a:ln>
        </p:spPr>
        <p:style>
          <a:lnRef idx="0">
            <a:schemeClr val="accent1"/>
          </a:lnRef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设计思路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底层继续使用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ArceOS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的模块化内核能力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中间复用内存、任务、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VFS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、网络和驱动模块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上层单独承载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Linux/POSIX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兼容语义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作用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硬件差异集中在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HAL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和平台层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语义集中在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ABI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层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RV64 / LA64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可以共用同一套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syscall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、进程、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FD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和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mmap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逻辑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3" name="StarryXStyle-header-logo" descr=""/>
          <p:cNvPicPr/>
          <p:nvPr/>
        </p:nvPicPr>
        <p:blipFill>
          <a:blip r:embed="rId1"/>
          <a:stretch/>
        </p:blipFill>
        <p:spPr>
          <a:xfrm>
            <a:off x="150120" y="119880"/>
            <a:ext cx="2548440" cy="608400"/>
          </a:xfrm>
          <a:prstGeom prst="rect">
            <a:avLst/>
          </a:prstGeom>
          <a:ln w="0">
            <a:noFill/>
          </a:ln>
        </p:spPr>
      </p:pic>
      <p:sp>
        <p:nvSpPr>
          <p:cNvPr id="194" name="StarryXStyle-nav-active"/>
          <p:cNvSpPr/>
          <p:nvPr/>
        </p:nvSpPr>
        <p:spPr>
          <a:xfrm>
            <a:off x="6469200" y="0"/>
            <a:ext cx="1083240" cy="7084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StarryXStyle-nav-1"/>
          <p:cNvSpPr/>
          <p:nvPr/>
        </p:nvSpPr>
        <p:spPr>
          <a:xfrm>
            <a:off x="429984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项目概况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tarryXStyle-nav-2"/>
          <p:cNvSpPr/>
          <p:nvPr/>
        </p:nvSpPr>
        <p:spPr>
          <a:xfrm>
            <a:off x="538452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成果展示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tarryXStyle-nav-3"/>
          <p:cNvSpPr/>
          <p:nvPr/>
        </p:nvSpPr>
        <p:spPr>
          <a:xfrm>
            <a:off x="6469200" y="19008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架构兼容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tarryXStyle-nav-4"/>
          <p:cNvSpPr/>
          <p:nvPr/>
        </p:nvSpPr>
        <p:spPr>
          <a:xfrm>
            <a:off x="7553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内存进程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tarryXStyle-nav-5"/>
          <p:cNvSpPr/>
          <p:nvPr/>
        </p:nvSpPr>
        <p:spPr>
          <a:xfrm>
            <a:off x="8638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文件</a:t>
            </a:r>
            <a:r>
              <a:rPr b="0" lang="en-US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IPC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tarryXStyle-nav-6"/>
          <p:cNvSpPr/>
          <p:nvPr/>
        </p:nvSpPr>
        <p:spPr>
          <a:xfrm>
            <a:off x="9722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网络多架构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tarryXStyle-nav-7"/>
          <p:cNvSpPr/>
          <p:nvPr/>
        </p:nvSpPr>
        <p:spPr>
          <a:xfrm>
            <a:off x="1080756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总结展望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tarryXStyle-title-marker"/>
          <p:cNvSpPr/>
          <p:nvPr/>
        </p:nvSpPr>
        <p:spPr>
          <a:xfrm>
            <a:off x="529920" y="1239840"/>
            <a:ext cx="1684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50" spc="-1" strike="noStrike">
                <a:solidFill>
                  <a:srgbClr val="111111"/>
                </a:solidFill>
                <a:latin typeface="Microsoft YaHei"/>
                <a:ea typeface="Microsoft YaHei"/>
              </a:rPr>
              <a:t>&gt;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 52"/>
          <p:cNvSpPr/>
          <p:nvPr/>
        </p:nvSpPr>
        <p:spPr>
          <a:xfrm>
            <a:off x="1800" y="0"/>
            <a:ext cx="121888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04" name="Title"/>
          <p:cNvSpPr/>
          <p:nvPr/>
        </p:nvSpPr>
        <p:spPr>
          <a:xfrm>
            <a:off x="650160" y="1187280"/>
            <a:ext cx="9816480" cy="4327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Linux/POSIX </a:t>
            </a:r>
            <a:r>
              <a:rPr b="1" lang="zh-CN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兼容路径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Body"/>
          <p:cNvSpPr/>
          <p:nvPr/>
        </p:nvSpPr>
        <p:spPr>
          <a:xfrm>
            <a:off x="876960" y="1921680"/>
            <a:ext cx="4523040" cy="377172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4472c4"/>
            </a:solidFill>
            <a:prstDash val="dash"/>
            <a:miter/>
          </a:ln>
        </p:spPr>
        <p:style>
          <a:lnRef idx="0">
            <a:schemeClr val="accent1"/>
          </a:lnRef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zh-CN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用户程序发起 </a:t>
            </a:r>
            <a:r>
              <a:rPr b="0" lang="en-US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syscall </a:t>
            </a:r>
            <a:r>
              <a:rPr b="0" lang="zh-CN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后</a:t>
            </a:r>
            <a:endParaRPr b="0" lang="en-US" sz="1810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en-US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trap </a:t>
            </a:r>
            <a:r>
              <a:rPr b="0" lang="zh-CN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入口收集寄存器参数</a:t>
            </a:r>
            <a:endParaRPr b="0" lang="en-US" sz="1810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en-US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dispatcher </a:t>
            </a:r>
            <a:r>
              <a:rPr b="0" lang="zh-CN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按 </a:t>
            </a:r>
            <a:r>
              <a:rPr b="0" lang="en-US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syscall </a:t>
            </a:r>
            <a:r>
              <a:rPr b="0" lang="zh-CN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编号统一分发</a:t>
            </a:r>
            <a:endParaRPr b="0" lang="en-US" sz="1810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zh-CN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各 </a:t>
            </a:r>
            <a:r>
              <a:rPr b="0" lang="en-US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ABI </a:t>
            </a:r>
            <a:r>
              <a:rPr b="0" lang="zh-CN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模块处理具体语义</a:t>
            </a:r>
            <a:endParaRPr b="0" lang="en-US" sz="1810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zh-CN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写回返回值和 </a:t>
            </a:r>
            <a:r>
              <a:rPr b="0" lang="en-US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errno</a:t>
            </a:r>
            <a:endParaRPr b="0" lang="en-US" sz="1810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zh-CN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返回用户态前检查信号</a:t>
            </a:r>
            <a:endParaRPr b="0" lang="en-US" sz="18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1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zh-CN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入口统一，用户指针、</a:t>
            </a:r>
            <a:r>
              <a:rPr b="0" lang="en-US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errno </a:t>
            </a:r>
            <a:r>
              <a:rPr b="0" lang="zh-CN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和信号递交可以集中处理</a:t>
            </a:r>
            <a:endParaRPr b="0" lang="en-US" sz="181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zh-CN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未支持接口明确返回 </a:t>
            </a:r>
            <a:r>
              <a:rPr b="0" lang="en-US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ENOSYS</a:t>
            </a:r>
            <a:r>
              <a:rPr b="0" lang="zh-CN" sz="181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，失败原因可追踪</a:t>
            </a:r>
            <a:endParaRPr b="0" lang="en-US" sz="181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6" name="orays-02-syscall-abi.png" descr=""/>
          <p:cNvPicPr/>
          <p:nvPr/>
        </p:nvPicPr>
        <p:blipFill>
          <a:blip r:embed="rId1"/>
          <a:stretch/>
        </p:blipFill>
        <p:spPr>
          <a:xfrm>
            <a:off x="6108840" y="798480"/>
            <a:ext cx="5770440" cy="5430600"/>
          </a:xfrm>
          <a:prstGeom prst="rect">
            <a:avLst/>
          </a:prstGeom>
          <a:ln w="0">
            <a:noFill/>
          </a:ln>
        </p:spPr>
      </p:pic>
      <p:sp>
        <p:nvSpPr>
          <p:cNvPr id="207" name="Caption"/>
          <p:cNvSpPr/>
          <p:nvPr/>
        </p:nvSpPr>
        <p:spPr>
          <a:xfrm>
            <a:off x="7397640" y="6300000"/>
            <a:ext cx="4794480" cy="2206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zh-CN" sz="86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用户程序经 </a:t>
            </a:r>
            <a:r>
              <a:rPr b="0" lang="en-US" sz="86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syscall trap </a:t>
            </a:r>
            <a:r>
              <a:rPr b="0" lang="zh-CN" sz="86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进入分发层，再落到 </a:t>
            </a:r>
            <a:r>
              <a:rPr b="0" lang="en-US" sz="86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uspace </a:t>
            </a:r>
            <a:r>
              <a:rPr b="0" lang="zh-CN" sz="86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子模块和内核服务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8" name="StarryXStyle-header-logo" descr=""/>
          <p:cNvPicPr/>
          <p:nvPr/>
        </p:nvPicPr>
        <p:blipFill>
          <a:blip r:embed="rId2"/>
          <a:stretch/>
        </p:blipFill>
        <p:spPr>
          <a:xfrm>
            <a:off x="150120" y="119880"/>
            <a:ext cx="2548440" cy="608400"/>
          </a:xfrm>
          <a:prstGeom prst="rect">
            <a:avLst/>
          </a:prstGeom>
          <a:ln w="0">
            <a:noFill/>
          </a:ln>
        </p:spPr>
      </p:pic>
      <p:sp>
        <p:nvSpPr>
          <p:cNvPr id="209" name="StarryXStyle-nav-active"/>
          <p:cNvSpPr/>
          <p:nvPr/>
        </p:nvSpPr>
        <p:spPr>
          <a:xfrm>
            <a:off x="6469200" y="0"/>
            <a:ext cx="1083240" cy="7084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StarryXStyle-nav-1"/>
          <p:cNvSpPr/>
          <p:nvPr/>
        </p:nvSpPr>
        <p:spPr>
          <a:xfrm>
            <a:off x="429984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项目概况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tarryXStyle-nav-2"/>
          <p:cNvSpPr/>
          <p:nvPr/>
        </p:nvSpPr>
        <p:spPr>
          <a:xfrm>
            <a:off x="538452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成果展示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tarryXStyle-nav-3"/>
          <p:cNvSpPr/>
          <p:nvPr/>
        </p:nvSpPr>
        <p:spPr>
          <a:xfrm>
            <a:off x="6469200" y="19008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架构兼容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tarryXStyle-nav-4"/>
          <p:cNvSpPr/>
          <p:nvPr/>
        </p:nvSpPr>
        <p:spPr>
          <a:xfrm>
            <a:off x="7553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内存进程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tarryXStyle-nav-5"/>
          <p:cNvSpPr/>
          <p:nvPr/>
        </p:nvSpPr>
        <p:spPr>
          <a:xfrm>
            <a:off x="8638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文件</a:t>
            </a:r>
            <a:r>
              <a:rPr b="0" lang="en-US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IPC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tarryXStyle-nav-6"/>
          <p:cNvSpPr/>
          <p:nvPr/>
        </p:nvSpPr>
        <p:spPr>
          <a:xfrm>
            <a:off x="9722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网络多架构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tarryXStyle-nav-7"/>
          <p:cNvSpPr/>
          <p:nvPr/>
        </p:nvSpPr>
        <p:spPr>
          <a:xfrm>
            <a:off x="1080756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总结展望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tarryXStyle-title-marker"/>
          <p:cNvSpPr/>
          <p:nvPr/>
        </p:nvSpPr>
        <p:spPr>
          <a:xfrm>
            <a:off x="529920" y="1239840"/>
            <a:ext cx="1684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50" spc="-1" strike="noStrike">
                <a:solidFill>
                  <a:srgbClr val="111111"/>
                </a:solidFill>
                <a:latin typeface="Microsoft YaHei"/>
                <a:ea typeface="Microsoft YaHei"/>
              </a:rPr>
              <a:t>&gt;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tarryXTransition-bg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tarryXTransition-blue-band"/>
          <p:cNvSpPr/>
          <p:nvPr/>
        </p:nvSpPr>
        <p:spPr>
          <a:xfrm>
            <a:off x="0" y="0"/>
            <a:ext cx="12190680" cy="37360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StarryXTransition-blue-shadow"/>
          <p:cNvSpPr/>
          <p:nvPr/>
        </p:nvSpPr>
        <p:spPr>
          <a:xfrm>
            <a:off x="0" y="3669120"/>
            <a:ext cx="12190680" cy="26640"/>
          </a:xfrm>
          <a:prstGeom prst="rect">
            <a:avLst/>
          </a:prstGeom>
          <a:solidFill>
            <a:srgbClr val="00649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920" bIns="-1692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1" name="StarryXTransition-cscc-logo" descr=""/>
          <p:cNvPicPr/>
          <p:nvPr/>
        </p:nvPicPr>
        <p:blipFill>
          <a:blip r:embed="rId1"/>
          <a:stretch/>
        </p:blipFill>
        <p:spPr>
          <a:xfrm>
            <a:off x="97560" y="219600"/>
            <a:ext cx="2949120" cy="608760"/>
          </a:xfrm>
          <a:prstGeom prst="rect">
            <a:avLst/>
          </a:prstGeom>
          <a:ln w="0">
            <a:noFill/>
          </a:ln>
        </p:spPr>
      </p:pic>
      <p:pic>
        <p:nvPicPr>
          <p:cNvPr id="222" name="StarryXTransition-hzdu-logo" descr=""/>
          <p:cNvPicPr/>
          <p:nvPr/>
        </p:nvPicPr>
        <p:blipFill>
          <a:blip r:embed="rId2"/>
          <a:stretch/>
        </p:blipFill>
        <p:spPr>
          <a:xfrm>
            <a:off x="8558640" y="102960"/>
            <a:ext cx="3546360" cy="828360"/>
          </a:xfrm>
          <a:prstGeom prst="rect">
            <a:avLst/>
          </a:prstGeom>
          <a:ln w="0">
            <a:noFill/>
          </a:ln>
        </p:spPr>
      </p:pic>
      <p:sp>
        <p:nvSpPr>
          <p:cNvPr id="223" name="StarryXTransition-part-hex"/>
          <p:cNvSpPr/>
          <p:nvPr/>
        </p:nvSpPr>
        <p:spPr>
          <a:xfrm>
            <a:off x="5157360" y="2983320"/>
            <a:ext cx="1875960" cy="154224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9ec7f1"/>
          </a:solidFill>
          <a:ln w="220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tarryXTransition-part-text"/>
          <p:cNvSpPr/>
          <p:nvPr/>
        </p:nvSpPr>
        <p:spPr>
          <a:xfrm>
            <a:off x="5157360" y="3633120"/>
            <a:ext cx="1875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70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Part.04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tarryXTransition-title"/>
          <p:cNvSpPr/>
          <p:nvPr/>
        </p:nvSpPr>
        <p:spPr>
          <a:xfrm>
            <a:off x="1219320" y="4526280"/>
            <a:ext cx="9752040" cy="10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420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内存与进程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 52"/>
          <p:cNvSpPr/>
          <p:nvPr/>
        </p:nvSpPr>
        <p:spPr>
          <a:xfrm>
            <a:off x="1800" y="0"/>
            <a:ext cx="121888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27" name="Title"/>
          <p:cNvSpPr/>
          <p:nvPr/>
        </p:nvSpPr>
        <p:spPr>
          <a:xfrm>
            <a:off x="650160" y="1187280"/>
            <a:ext cx="10197720" cy="4327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zh-CN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内存管理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8" name="orays-03-memory-management.png" descr=""/>
          <p:cNvPicPr/>
          <p:nvPr/>
        </p:nvPicPr>
        <p:blipFill>
          <a:blip r:embed="rId1"/>
          <a:stretch/>
        </p:blipFill>
        <p:spPr>
          <a:xfrm>
            <a:off x="5488920" y="2100600"/>
            <a:ext cx="6126840" cy="3562200"/>
          </a:xfrm>
          <a:prstGeom prst="rect">
            <a:avLst/>
          </a:prstGeom>
          <a:ln w="0">
            <a:noFill/>
          </a:ln>
        </p:spPr>
      </p:pic>
      <p:sp>
        <p:nvSpPr>
          <p:cNvPr id="229" name="Caption"/>
          <p:cNvSpPr/>
          <p:nvPr/>
        </p:nvSpPr>
        <p:spPr>
          <a:xfrm>
            <a:off x="6539400" y="5978160"/>
            <a:ext cx="4980600" cy="2271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</a:t>
            </a:r>
            <a:r>
              <a:rPr b="0" lang="zh-CN" sz="9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内存 </a:t>
            </a:r>
            <a:r>
              <a:rPr b="0" lang="en-US" sz="9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syscall</a:t>
            </a:r>
            <a:r>
              <a:rPr b="0" lang="zh-CN" sz="9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9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UserProcess </a:t>
            </a:r>
            <a:r>
              <a:rPr b="0" lang="zh-CN" sz="9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状态、</a:t>
            </a:r>
            <a:r>
              <a:rPr b="0" lang="en-US" sz="9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AddrSpace</a:t>
            </a:r>
            <a:r>
              <a:rPr b="0" lang="zh-CN" sz="9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、页表与缺页路径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Body"/>
          <p:cNvSpPr/>
          <p:nvPr/>
        </p:nvSpPr>
        <p:spPr>
          <a:xfrm>
            <a:off x="674640" y="1822320"/>
            <a:ext cx="4698720" cy="454572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4472c4"/>
            </a:solidFill>
            <a:prstDash val="dash"/>
            <a:miter/>
          </a:ln>
        </p:spPr>
        <p:style>
          <a:lnRef idx="0">
            <a:schemeClr val="accent1"/>
          </a:lnRef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要解决的问题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程序需要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brk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mmap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mprotect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munmap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mremap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等接口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fork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不能简单复制整个地址空间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用户指针访问必须返回正确的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EFAULT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或触发异常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实现方式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AddrSpace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管理用户地址空间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lazy allocation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按需分配物理页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COW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让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fork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先共享、写入时再复制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copy-in/copy-out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前先检查并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fault-in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1" name="StarryXStyle-header-logo" descr=""/>
          <p:cNvPicPr/>
          <p:nvPr/>
        </p:nvPicPr>
        <p:blipFill>
          <a:blip r:embed="rId2"/>
          <a:stretch/>
        </p:blipFill>
        <p:spPr>
          <a:xfrm>
            <a:off x="150120" y="119880"/>
            <a:ext cx="2548440" cy="608400"/>
          </a:xfrm>
          <a:prstGeom prst="rect">
            <a:avLst/>
          </a:prstGeom>
          <a:ln w="0">
            <a:noFill/>
          </a:ln>
        </p:spPr>
      </p:pic>
      <p:sp>
        <p:nvSpPr>
          <p:cNvPr id="232" name="StarryXStyle-nav-active"/>
          <p:cNvSpPr/>
          <p:nvPr/>
        </p:nvSpPr>
        <p:spPr>
          <a:xfrm>
            <a:off x="7553880" y="0"/>
            <a:ext cx="1083240" cy="7084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StarryXStyle-nav-1"/>
          <p:cNvSpPr/>
          <p:nvPr/>
        </p:nvSpPr>
        <p:spPr>
          <a:xfrm>
            <a:off x="429984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项目概况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tarryXStyle-nav-2"/>
          <p:cNvSpPr/>
          <p:nvPr/>
        </p:nvSpPr>
        <p:spPr>
          <a:xfrm>
            <a:off x="538452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成果展示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tarryXStyle-nav-3"/>
          <p:cNvSpPr/>
          <p:nvPr/>
        </p:nvSpPr>
        <p:spPr>
          <a:xfrm>
            <a:off x="6469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架构兼容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tarryXStyle-nav-4"/>
          <p:cNvSpPr/>
          <p:nvPr/>
        </p:nvSpPr>
        <p:spPr>
          <a:xfrm>
            <a:off x="7553880" y="19008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内存进程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tarryXStyle-nav-5"/>
          <p:cNvSpPr/>
          <p:nvPr/>
        </p:nvSpPr>
        <p:spPr>
          <a:xfrm>
            <a:off x="8638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文件</a:t>
            </a:r>
            <a:r>
              <a:rPr b="0" lang="en-US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IPC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tarryXStyle-nav-6"/>
          <p:cNvSpPr/>
          <p:nvPr/>
        </p:nvSpPr>
        <p:spPr>
          <a:xfrm>
            <a:off x="9722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网络多架构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tarryXStyle-nav-7"/>
          <p:cNvSpPr/>
          <p:nvPr/>
        </p:nvSpPr>
        <p:spPr>
          <a:xfrm>
            <a:off x="1080756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总结展望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tarryXStyle-title-marker"/>
          <p:cNvSpPr/>
          <p:nvPr/>
        </p:nvSpPr>
        <p:spPr>
          <a:xfrm>
            <a:off x="529920" y="1239840"/>
            <a:ext cx="1684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50" spc="-1" strike="noStrike">
                <a:solidFill>
                  <a:srgbClr val="111111"/>
                </a:solidFill>
                <a:latin typeface="Microsoft YaHei"/>
                <a:ea typeface="Microsoft YaHei"/>
              </a:rPr>
              <a:t>&gt;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 52"/>
          <p:cNvSpPr/>
          <p:nvPr/>
        </p:nvSpPr>
        <p:spPr>
          <a:xfrm>
            <a:off x="0" y="-16560"/>
            <a:ext cx="121888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42" name="Title"/>
          <p:cNvSpPr/>
          <p:nvPr/>
        </p:nvSpPr>
        <p:spPr>
          <a:xfrm>
            <a:off x="650160" y="1187280"/>
            <a:ext cx="10197720" cy="4327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zh-CN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内存管理：分层实现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Body"/>
          <p:cNvSpPr/>
          <p:nvPr/>
        </p:nvSpPr>
        <p:spPr>
          <a:xfrm>
            <a:off x="1205280" y="2356920"/>
            <a:ext cx="9774720" cy="232308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4472c4"/>
            </a:solidFill>
            <a:prstDash val="dash"/>
            <a:miter/>
          </a:ln>
        </p:spPr>
        <p:style>
          <a:lnRef idx="0">
            <a:schemeClr val="accent1"/>
          </a:lnRef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物理层：页帧和字节级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heap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分配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虚拟层：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AddrSpace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MemorySet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和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PageTable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管理映射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接口层：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brk / mmap / mprotect / munmap / mremap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对接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ABI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安全层：用户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/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内核地址空间隔离，用户指针统一检查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物理页、虚拟映射和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syscall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边界各管一层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问题定位更清楚，跨架构页表差异也更容易隔离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4" name="StarryXStyle-header-logo" descr=""/>
          <p:cNvPicPr/>
          <p:nvPr/>
        </p:nvPicPr>
        <p:blipFill>
          <a:blip r:embed="rId1"/>
          <a:stretch/>
        </p:blipFill>
        <p:spPr>
          <a:xfrm>
            <a:off x="150120" y="119880"/>
            <a:ext cx="2548440" cy="608400"/>
          </a:xfrm>
          <a:prstGeom prst="rect">
            <a:avLst/>
          </a:prstGeom>
          <a:ln w="0">
            <a:noFill/>
          </a:ln>
        </p:spPr>
      </p:pic>
      <p:sp>
        <p:nvSpPr>
          <p:cNvPr id="245" name="StarryXStyle-nav-active"/>
          <p:cNvSpPr/>
          <p:nvPr/>
        </p:nvSpPr>
        <p:spPr>
          <a:xfrm>
            <a:off x="7553880" y="0"/>
            <a:ext cx="1083240" cy="7084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StarryXStyle-nav-1"/>
          <p:cNvSpPr/>
          <p:nvPr/>
        </p:nvSpPr>
        <p:spPr>
          <a:xfrm>
            <a:off x="429984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项目概况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tarryXStyle-nav-2"/>
          <p:cNvSpPr/>
          <p:nvPr/>
        </p:nvSpPr>
        <p:spPr>
          <a:xfrm>
            <a:off x="538452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成果展示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tarryXStyle-nav-3"/>
          <p:cNvSpPr/>
          <p:nvPr/>
        </p:nvSpPr>
        <p:spPr>
          <a:xfrm>
            <a:off x="6469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架构兼容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tarryXStyle-nav-4"/>
          <p:cNvSpPr/>
          <p:nvPr/>
        </p:nvSpPr>
        <p:spPr>
          <a:xfrm>
            <a:off x="7553880" y="19008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内存进程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tarryXStyle-nav-5"/>
          <p:cNvSpPr/>
          <p:nvPr/>
        </p:nvSpPr>
        <p:spPr>
          <a:xfrm>
            <a:off x="8638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文件</a:t>
            </a:r>
            <a:r>
              <a:rPr b="0" lang="en-US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IPC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tarryXStyle-nav-6"/>
          <p:cNvSpPr/>
          <p:nvPr/>
        </p:nvSpPr>
        <p:spPr>
          <a:xfrm>
            <a:off x="9722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网络多架构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tarryXStyle-nav-7"/>
          <p:cNvSpPr/>
          <p:nvPr/>
        </p:nvSpPr>
        <p:spPr>
          <a:xfrm>
            <a:off x="1080756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总结展望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tarryXStyle-title-marker"/>
          <p:cNvSpPr/>
          <p:nvPr/>
        </p:nvSpPr>
        <p:spPr>
          <a:xfrm>
            <a:off x="529920" y="1239840"/>
            <a:ext cx="1684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50" spc="-1" strike="noStrike">
                <a:solidFill>
                  <a:srgbClr val="111111"/>
                </a:solidFill>
                <a:latin typeface="Microsoft YaHei"/>
                <a:ea typeface="Microsoft YaHei"/>
              </a:rPr>
              <a:t>&gt;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rect 52"/>
          <p:cNvSpPr/>
          <p:nvPr/>
        </p:nvSpPr>
        <p:spPr>
          <a:xfrm>
            <a:off x="1800" y="0"/>
            <a:ext cx="121888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55" name="Title"/>
          <p:cNvSpPr/>
          <p:nvPr/>
        </p:nvSpPr>
        <p:spPr>
          <a:xfrm>
            <a:off x="650160" y="1187280"/>
            <a:ext cx="10197720" cy="4327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zh-CN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任务与进程管理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Body"/>
          <p:cNvSpPr/>
          <p:nvPr/>
        </p:nvSpPr>
        <p:spPr>
          <a:xfrm>
            <a:off x="640080" y="1994400"/>
            <a:ext cx="4943160" cy="35931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4472c4"/>
            </a:solidFill>
            <a:prstDash val="dash"/>
            <a:miter/>
          </a:ln>
        </p:spPr>
        <p:style>
          <a:lnRef idx="0">
            <a:schemeClr val="accent1"/>
          </a:lnRef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核心思路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axtask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负责调度：哪个任务该运行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UserProcess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负责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可见状态：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PID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FD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、信号、地址空间、退出码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fork / clone / execve / wait / exit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围绕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UserProcess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组织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作用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底层调度模型保持简单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进程语义集中维护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父子关系、退出状态和资源回收更容易对齐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7" name="orays-04-task-process.png" descr=""/>
          <p:cNvPicPr/>
          <p:nvPr/>
        </p:nvPicPr>
        <p:blipFill>
          <a:blip r:embed="rId1"/>
          <a:stretch/>
        </p:blipFill>
        <p:spPr>
          <a:xfrm>
            <a:off x="5801040" y="1799640"/>
            <a:ext cx="5849280" cy="4098600"/>
          </a:xfrm>
          <a:prstGeom prst="rect">
            <a:avLst/>
          </a:prstGeom>
          <a:ln w="0">
            <a:noFill/>
          </a:ln>
        </p:spPr>
      </p:pic>
      <p:sp>
        <p:nvSpPr>
          <p:cNvPr id="258" name="Caption"/>
          <p:cNvSpPr/>
          <p:nvPr/>
        </p:nvSpPr>
        <p:spPr>
          <a:xfrm>
            <a:off x="7079400" y="6234480"/>
            <a:ext cx="4980600" cy="2271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zh-CN" sz="9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程序启动、</a:t>
            </a:r>
            <a:r>
              <a:rPr b="0" lang="en-US" sz="9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UserProcess</a:t>
            </a:r>
            <a:r>
              <a:rPr b="0" lang="zh-CN" sz="9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9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TaskInner</a:t>
            </a:r>
            <a:r>
              <a:rPr b="0" lang="zh-CN" sz="9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9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RunQueue </a:t>
            </a:r>
            <a:r>
              <a:rPr b="0" lang="zh-CN" sz="90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与上下文切换关系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9" name="StarryXStyle-header-logo" descr=""/>
          <p:cNvPicPr/>
          <p:nvPr/>
        </p:nvPicPr>
        <p:blipFill>
          <a:blip r:embed="rId2"/>
          <a:stretch/>
        </p:blipFill>
        <p:spPr>
          <a:xfrm>
            <a:off x="150120" y="119880"/>
            <a:ext cx="2548440" cy="608400"/>
          </a:xfrm>
          <a:prstGeom prst="rect">
            <a:avLst/>
          </a:prstGeom>
          <a:ln w="0">
            <a:noFill/>
          </a:ln>
        </p:spPr>
      </p:pic>
      <p:sp>
        <p:nvSpPr>
          <p:cNvPr id="260" name="StarryXStyle-nav-active"/>
          <p:cNvSpPr/>
          <p:nvPr/>
        </p:nvSpPr>
        <p:spPr>
          <a:xfrm>
            <a:off x="7553880" y="0"/>
            <a:ext cx="1083240" cy="7084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StarryXStyle-nav-1"/>
          <p:cNvSpPr/>
          <p:nvPr/>
        </p:nvSpPr>
        <p:spPr>
          <a:xfrm>
            <a:off x="429984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项目概况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tarryXStyle-nav-2"/>
          <p:cNvSpPr/>
          <p:nvPr/>
        </p:nvSpPr>
        <p:spPr>
          <a:xfrm>
            <a:off x="538452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成果展示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tarryXStyle-nav-3"/>
          <p:cNvSpPr/>
          <p:nvPr/>
        </p:nvSpPr>
        <p:spPr>
          <a:xfrm>
            <a:off x="6469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架构兼容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tarryXStyle-nav-4"/>
          <p:cNvSpPr/>
          <p:nvPr/>
        </p:nvSpPr>
        <p:spPr>
          <a:xfrm>
            <a:off x="7553880" y="19008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内存进程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tarryXStyle-nav-5"/>
          <p:cNvSpPr/>
          <p:nvPr/>
        </p:nvSpPr>
        <p:spPr>
          <a:xfrm>
            <a:off x="8638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文件</a:t>
            </a:r>
            <a:r>
              <a:rPr b="0" lang="en-US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IPC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tarryXStyle-nav-6"/>
          <p:cNvSpPr/>
          <p:nvPr/>
        </p:nvSpPr>
        <p:spPr>
          <a:xfrm>
            <a:off x="9722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网络多架构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tarryXStyle-nav-7"/>
          <p:cNvSpPr/>
          <p:nvPr/>
        </p:nvSpPr>
        <p:spPr>
          <a:xfrm>
            <a:off x="1080756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总结展望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tarryXStyle-title-marker"/>
          <p:cNvSpPr/>
          <p:nvPr/>
        </p:nvSpPr>
        <p:spPr>
          <a:xfrm>
            <a:off x="529920" y="1239840"/>
            <a:ext cx="1684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50" spc="-1" strike="noStrike">
                <a:solidFill>
                  <a:srgbClr val="111111"/>
                </a:solidFill>
                <a:latin typeface="Microsoft YaHei"/>
                <a:ea typeface="Microsoft YaHei"/>
              </a:rPr>
              <a:t>&gt;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rect 52"/>
          <p:cNvSpPr/>
          <p:nvPr/>
        </p:nvSpPr>
        <p:spPr>
          <a:xfrm>
            <a:off x="1800" y="0"/>
            <a:ext cx="121888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70" name="Title"/>
          <p:cNvSpPr/>
          <p:nvPr/>
        </p:nvSpPr>
        <p:spPr>
          <a:xfrm>
            <a:off x="650160" y="1187280"/>
            <a:ext cx="10197720" cy="4327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zh-CN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进程生命周期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Body"/>
          <p:cNvSpPr/>
          <p:nvPr/>
        </p:nvSpPr>
        <p:spPr>
          <a:xfrm>
            <a:off x="1205280" y="2399400"/>
            <a:ext cx="9774720" cy="264060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4472c4"/>
            </a:solidFill>
            <a:prstDash val="dash"/>
            <a:miter/>
          </a:ln>
        </p:spPr>
        <p:style>
          <a:lnRef idx="0">
            <a:schemeClr val="accent1"/>
          </a:lnRef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进程生命周期围绕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UserProcess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展开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fork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：父子进程先共享页面，写入时通过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COW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分开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vfork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：子进程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exec/exit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前共享父进程相关资源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clone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：按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flags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选择线程、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fork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或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vfork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类语义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execve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：重新加载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ELF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，替换地址空间和用户上下文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wait / exit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：返回退出状态并释放进程资源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可以让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程序看到真实的父子关系、退出码和资源回收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2" name="StarryXStyle-header-logo" descr=""/>
          <p:cNvPicPr/>
          <p:nvPr/>
        </p:nvPicPr>
        <p:blipFill>
          <a:blip r:embed="rId1"/>
          <a:stretch/>
        </p:blipFill>
        <p:spPr>
          <a:xfrm>
            <a:off x="150120" y="119880"/>
            <a:ext cx="2548440" cy="608400"/>
          </a:xfrm>
          <a:prstGeom prst="rect">
            <a:avLst/>
          </a:prstGeom>
          <a:ln w="0">
            <a:noFill/>
          </a:ln>
        </p:spPr>
      </p:pic>
      <p:sp>
        <p:nvSpPr>
          <p:cNvPr id="273" name="StarryXStyle-nav-active"/>
          <p:cNvSpPr/>
          <p:nvPr/>
        </p:nvSpPr>
        <p:spPr>
          <a:xfrm>
            <a:off x="7553880" y="0"/>
            <a:ext cx="1083240" cy="7084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StarryXStyle-nav-1"/>
          <p:cNvSpPr/>
          <p:nvPr/>
        </p:nvSpPr>
        <p:spPr>
          <a:xfrm>
            <a:off x="429984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项目概况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tarryXStyle-nav-2"/>
          <p:cNvSpPr/>
          <p:nvPr/>
        </p:nvSpPr>
        <p:spPr>
          <a:xfrm>
            <a:off x="538452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成果展示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tarryXStyle-nav-3"/>
          <p:cNvSpPr/>
          <p:nvPr/>
        </p:nvSpPr>
        <p:spPr>
          <a:xfrm>
            <a:off x="6469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架构兼容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tarryXStyle-nav-4"/>
          <p:cNvSpPr/>
          <p:nvPr/>
        </p:nvSpPr>
        <p:spPr>
          <a:xfrm>
            <a:off x="7553880" y="19008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内存进程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tarryXStyle-nav-5"/>
          <p:cNvSpPr/>
          <p:nvPr/>
        </p:nvSpPr>
        <p:spPr>
          <a:xfrm>
            <a:off x="8638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文件</a:t>
            </a:r>
            <a:r>
              <a:rPr b="0" lang="en-US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IPC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tarryXStyle-nav-6"/>
          <p:cNvSpPr/>
          <p:nvPr/>
        </p:nvSpPr>
        <p:spPr>
          <a:xfrm>
            <a:off x="9722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网络多架构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tarryXStyle-nav-7"/>
          <p:cNvSpPr/>
          <p:nvPr/>
        </p:nvSpPr>
        <p:spPr>
          <a:xfrm>
            <a:off x="1080756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总结展望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tarryXStyle-title-marker"/>
          <p:cNvSpPr/>
          <p:nvPr/>
        </p:nvSpPr>
        <p:spPr>
          <a:xfrm>
            <a:off x="529920" y="1239840"/>
            <a:ext cx="1684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50" spc="-1" strike="noStrike">
                <a:solidFill>
                  <a:srgbClr val="111111"/>
                </a:solidFill>
                <a:latin typeface="Microsoft YaHei"/>
                <a:ea typeface="Microsoft YaHei"/>
              </a:rPr>
              <a:t>&gt;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StarryXTransition-bg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tarryXTransition-blue-band"/>
          <p:cNvSpPr/>
          <p:nvPr/>
        </p:nvSpPr>
        <p:spPr>
          <a:xfrm>
            <a:off x="0" y="0"/>
            <a:ext cx="12190680" cy="37360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StarryXTransition-blue-shadow"/>
          <p:cNvSpPr/>
          <p:nvPr/>
        </p:nvSpPr>
        <p:spPr>
          <a:xfrm>
            <a:off x="0" y="3669120"/>
            <a:ext cx="12190680" cy="26640"/>
          </a:xfrm>
          <a:prstGeom prst="rect">
            <a:avLst/>
          </a:prstGeom>
          <a:solidFill>
            <a:srgbClr val="00649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920" bIns="-1692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85" name="StarryXTransition-cscc-logo" descr=""/>
          <p:cNvPicPr/>
          <p:nvPr/>
        </p:nvPicPr>
        <p:blipFill>
          <a:blip r:embed="rId1"/>
          <a:stretch/>
        </p:blipFill>
        <p:spPr>
          <a:xfrm>
            <a:off x="97560" y="219600"/>
            <a:ext cx="2949120" cy="608760"/>
          </a:xfrm>
          <a:prstGeom prst="rect">
            <a:avLst/>
          </a:prstGeom>
          <a:ln w="0">
            <a:noFill/>
          </a:ln>
        </p:spPr>
      </p:pic>
      <p:pic>
        <p:nvPicPr>
          <p:cNvPr id="286" name="StarryXTransition-hzdu-logo" descr=""/>
          <p:cNvPicPr/>
          <p:nvPr/>
        </p:nvPicPr>
        <p:blipFill>
          <a:blip r:embed="rId2"/>
          <a:stretch/>
        </p:blipFill>
        <p:spPr>
          <a:xfrm>
            <a:off x="8558640" y="102960"/>
            <a:ext cx="3546360" cy="828360"/>
          </a:xfrm>
          <a:prstGeom prst="rect">
            <a:avLst/>
          </a:prstGeom>
          <a:ln w="0">
            <a:noFill/>
          </a:ln>
        </p:spPr>
      </p:pic>
      <p:sp>
        <p:nvSpPr>
          <p:cNvPr id="287" name="StarryXTransition-part-hex"/>
          <p:cNvSpPr/>
          <p:nvPr/>
        </p:nvSpPr>
        <p:spPr>
          <a:xfrm>
            <a:off x="5157360" y="2983320"/>
            <a:ext cx="1861920" cy="154224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9ec7f1"/>
          </a:solidFill>
          <a:ln w="220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tarryXTransition-part-text"/>
          <p:cNvSpPr/>
          <p:nvPr/>
        </p:nvSpPr>
        <p:spPr>
          <a:xfrm>
            <a:off x="5157360" y="3633120"/>
            <a:ext cx="1875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70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Part.05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tarryXTransition-title"/>
          <p:cNvSpPr/>
          <p:nvPr/>
        </p:nvSpPr>
        <p:spPr>
          <a:xfrm>
            <a:off x="1219320" y="4526280"/>
            <a:ext cx="9752040" cy="10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420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文件系统与 </a:t>
            </a:r>
            <a:r>
              <a:rPr b="1" lang="en-US" sz="420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IPC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 52"/>
          <p:cNvSpPr/>
          <p:nvPr/>
        </p:nvSpPr>
        <p:spPr>
          <a:xfrm>
            <a:off x="3240" y="-16560"/>
            <a:ext cx="121888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91" name="Title"/>
          <p:cNvSpPr/>
          <p:nvPr/>
        </p:nvSpPr>
        <p:spPr>
          <a:xfrm>
            <a:off x="650160" y="1187280"/>
            <a:ext cx="10017360" cy="4327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zh-CN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文件系统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Body"/>
          <p:cNvSpPr/>
          <p:nvPr/>
        </p:nvSpPr>
        <p:spPr>
          <a:xfrm>
            <a:off x="604440" y="2340000"/>
            <a:ext cx="4615560" cy="291492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4472c4"/>
            </a:solidFill>
            <a:prstDash val="dash"/>
            <a:miter/>
          </a:ln>
        </p:spPr>
        <p:style>
          <a:lnRef idx="0">
            <a:schemeClr val="accent1"/>
          </a:lnRef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axfs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屏蔽 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FAT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ext4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devfs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ramfs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等后端差异，向上提供 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File / Directory / OpenOptions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ProcessFdTable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统一管理文件、目录、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pipe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socket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epoll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timerfd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pidfd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等对象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poll / epoll / fcntl / close / dup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可以走统一路径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3" name="orays-05-fd-vfs.png" descr=""/>
          <p:cNvPicPr/>
          <p:nvPr/>
        </p:nvPicPr>
        <p:blipFill>
          <a:blip r:embed="rId1"/>
          <a:stretch/>
        </p:blipFill>
        <p:spPr>
          <a:xfrm>
            <a:off x="5834880" y="2048400"/>
            <a:ext cx="5449320" cy="3817440"/>
          </a:xfrm>
          <a:prstGeom prst="rect">
            <a:avLst/>
          </a:prstGeom>
          <a:ln w="0">
            <a:noFill/>
          </a:ln>
        </p:spPr>
      </p:pic>
      <p:sp>
        <p:nvSpPr>
          <p:cNvPr id="294" name="Caption"/>
          <p:cNvSpPr/>
          <p:nvPr/>
        </p:nvSpPr>
        <p:spPr>
          <a:xfrm>
            <a:off x="6807600" y="6120000"/>
            <a:ext cx="4892400" cy="2235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FD syscall </a:t>
            </a:r>
            <a:r>
              <a:rPr b="0" lang="zh-CN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到 </a:t>
            </a:r>
            <a:r>
              <a:rPr b="0" lang="en-US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ProcessFdTable</a:t>
            </a:r>
            <a:r>
              <a:rPr b="0" lang="zh-CN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VFS entry </a:t>
            </a:r>
            <a:r>
              <a:rPr b="0" lang="zh-CN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与具体文件系统后端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5" name="StarryXStyle-header-logo" descr=""/>
          <p:cNvPicPr/>
          <p:nvPr/>
        </p:nvPicPr>
        <p:blipFill>
          <a:blip r:embed="rId2"/>
          <a:stretch/>
        </p:blipFill>
        <p:spPr>
          <a:xfrm>
            <a:off x="150120" y="119880"/>
            <a:ext cx="2548440" cy="608400"/>
          </a:xfrm>
          <a:prstGeom prst="rect">
            <a:avLst/>
          </a:prstGeom>
          <a:ln w="0">
            <a:noFill/>
          </a:ln>
        </p:spPr>
      </p:pic>
      <p:sp>
        <p:nvSpPr>
          <p:cNvPr id="296" name="StarryXStyle-nav-active"/>
          <p:cNvSpPr/>
          <p:nvPr/>
        </p:nvSpPr>
        <p:spPr>
          <a:xfrm>
            <a:off x="8638200" y="0"/>
            <a:ext cx="1083240" cy="7084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StarryXStyle-nav-1"/>
          <p:cNvSpPr/>
          <p:nvPr/>
        </p:nvSpPr>
        <p:spPr>
          <a:xfrm>
            <a:off x="429984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项目概况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tarryXStyle-nav-2"/>
          <p:cNvSpPr/>
          <p:nvPr/>
        </p:nvSpPr>
        <p:spPr>
          <a:xfrm>
            <a:off x="538452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成果展示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tarryXStyle-nav-3"/>
          <p:cNvSpPr/>
          <p:nvPr/>
        </p:nvSpPr>
        <p:spPr>
          <a:xfrm>
            <a:off x="6469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架构兼容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tarryXStyle-nav-4"/>
          <p:cNvSpPr/>
          <p:nvPr/>
        </p:nvSpPr>
        <p:spPr>
          <a:xfrm>
            <a:off x="7553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内存进程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tarryXStyle-nav-5"/>
          <p:cNvSpPr/>
          <p:nvPr/>
        </p:nvSpPr>
        <p:spPr>
          <a:xfrm>
            <a:off x="8638200" y="19008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文件</a:t>
            </a:r>
            <a:r>
              <a:rPr b="1" lang="en-US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IPC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tarryXStyle-nav-6"/>
          <p:cNvSpPr/>
          <p:nvPr/>
        </p:nvSpPr>
        <p:spPr>
          <a:xfrm>
            <a:off x="9722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网络多架构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tarryXStyle-nav-7"/>
          <p:cNvSpPr/>
          <p:nvPr/>
        </p:nvSpPr>
        <p:spPr>
          <a:xfrm>
            <a:off x="1080756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总结展望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tarryXStyle-title-marker"/>
          <p:cNvSpPr/>
          <p:nvPr/>
        </p:nvSpPr>
        <p:spPr>
          <a:xfrm>
            <a:off x="529920" y="1239840"/>
            <a:ext cx="1684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50" spc="-1" strike="noStrike">
                <a:solidFill>
                  <a:srgbClr val="111111"/>
                </a:solidFill>
                <a:latin typeface="Microsoft YaHei"/>
                <a:ea typeface="Microsoft YaHei"/>
              </a:rPr>
              <a:t>&gt;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rect 52"/>
          <p:cNvSpPr/>
          <p:nvPr/>
        </p:nvSpPr>
        <p:spPr>
          <a:xfrm>
            <a:off x="1800" y="0"/>
            <a:ext cx="121888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06" name="Title"/>
          <p:cNvSpPr/>
          <p:nvPr/>
        </p:nvSpPr>
        <p:spPr>
          <a:xfrm>
            <a:off x="650160" y="1187280"/>
            <a:ext cx="10197720" cy="4327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Linux </a:t>
            </a:r>
            <a:r>
              <a:rPr b="1" lang="zh-CN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文件系统视图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Body"/>
          <p:cNvSpPr/>
          <p:nvPr/>
        </p:nvSpPr>
        <p:spPr>
          <a:xfrm>
            <a:off x="1260000" y="2356920"/>
            <a:ext cx="9774720" cy="232308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4472c4"/>
            </a:solidFill>
            <a:prstDash val="dash"/>
            <a:miter/>
          </a:ln>
        </p:spPr>
        <p:style>
          <a:lnRef idx="0">
            <a:schemeClr val="accent1"/>
          </a:lnRef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程序依赖的不只是文件内容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stat / statx / statfs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提供权限、类型、大小、时间和设备信息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chmod / chown / umask / access / utimensat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维护可见权限和时间状态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symlink / hardlink / readlink / xattr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补齐链接和扩展属性行为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/proc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暴露进程、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fd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maps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mounts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sysvipc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等运行时状态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/sys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和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/dev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提供设备、平台和常见特殊节点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作用：给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BusyBox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shell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LTP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提供更接近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的环境视图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8" name="StarryXStyle-header-logo" descr=""/>
          <p:cNvPicPr/>
          <p:nvPr/>
        </p:nvPicPr>
        <p:blipFill>
          <a:blip r:embed="rId1"/>
          <a:stretch/>
        </p:blipFill>
        <p:spPr>
          <a:xfrm>
            <a:off x="150120" y="119880"/>
            <a:ext cx="2548440" cy="608400"/>
          </a:xfrm>
          <a:prstGeom prst="rect">
            <a:avLst/>
          </a:prstGeom>
          <a:ln w="0">
            <a:noFill/>
          </a:ln>
        </p:spPr>
      </p:pic>
      <p:sp>
        <p:nvSpPr>
          <p:cNvPr id="309" name="StarryXStyle-nav-active"/>
          <p:cNvSpPr/>
          <p:nvPr/>
        </p:nvSpPr>
        <p:spPr>
          <a:xfrm>
            <a:off x="8638200" y="0"/>
            <a:ext cx="1083240" cy="7084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StarryXStyle-nav-1"/>
          <p:cNvSpPr/>
          <p:nvPr/>
        </p:nvSpPr>
        <p:spPr>
          <a:xfrm>
            <a:off x="429984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项目概况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tarryXStyle-nav-2"/>
          <p:cNvSpPr/>
          <p:nvPr/>
        </p:nvSpPr>
        <p:spPr>
          <a:xfrm>
            <a:off x="538452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成果展示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tarryXStyle-nav-3"/>
          <p:cNvSpPr/>
          <p:nvPr/>
        </p:nvSpPr>
        <p:spPr>
          <a:xfrm>
            <a:off x="6469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架构兼容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tarryXStyle-nav-4"/>
          <p:cNvSpPr/>
          <p:nvPr/>
        </p:nvSpPr>
        <p:spPr>
          <a:xfrm>
            <a:off x="7553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内存进程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tarryXStyle-nav-5"/>
          <p:cNvSpPr/>
          <p:nvPr/>
        </p:nvSpPr>
        <p:spPr>
          <a:xfrm>
            <a:off x="8638200" y="19008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文件</a:t>
            </a:r>
            <a:r>
              <a:rPr b="1" lang="en-US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IPC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tarryXStyle-nav-6"/>
          <p:cNvSpPr/>
          <p:nvPr/>
        </p:nvSpPr>
        <p:spPr>
          <a:xfrm>
            <a:off x="9722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网络多架构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tarryXStyle-nav-7"/>
          <p:cNvSpPr/>
          <p:nvPr/>
        </p:nvSpPr>
        <p:spPr>
          <a:xfrm>
            <a:off x="1080756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总结展望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tarryXStyle-title-marker"/>
          <p:cNvSpPr/>
          <p:nvPr/>
        </p:nvSpPr>
        <p:spPr>
          <a:xfrm>
            <a:off x="529920" y="1239840"/>
            <a:ext cx="1684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50" spc="-1" strike="noStrike">
                <a:solidFill>
                  <a:srgbClr val="111111"/>
                </a:solidFill>
                <a:latin typeface="Microsoft YaHei"/>
                <a:ea typeface="Microsoft YaHei"/>
              </a:rPr>
              <a:t>&gt;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 52"/>
          <p:cNvSpPr/>
          <p:nvPr/>
        </p:nvSpPr>
        <p:spPr>
          <a:xfrm>
            <a:off x="0" y="-16560"/>
            <a:ext cx="121888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19" name="Title"/>
          <p:cNvSpPr/>
          <p:nvPr/>
        </p:nvSpPr>
        <p:spPr>
          <a:xfrm>
            <a:off x="650160" y="1171080"/>
            <a:ext cx="9686520" cy="4327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zh-CN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信号与 </a:t>
            </a:r>
            <a:r>
              <a:rPr b="1" lang="en-US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IPC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0" name="orays-06-ipc-shm.png" descr=""/>
          <p:cNvPicPr/>
          <p:nvPr/>
        </p:nvPicPr>
        <p:blipFill>
          <a:blip r:embed="rId1"/>
          <a:stretch/>
        </p:blipFill>
        <p:spPr>
          <a:xfrm>
            <a:off x="6135480" y="1603800"/>
            <a:ext cx="4903200" cy="4305600"/>
          </a:xfrm>
          <a:prstGeom prst="rect">
            <a:avLst/>
          </a:prstGeom>
          <a:ln w="0">
            <a:noFill/>
          </a:ln>
        </p:spPr>
      </p:pic>
      <p:sp>
        <p:nvSpPr>
          <p:cNvPr id="321" name="Caption"/>
          <p:cNvSpPr/>
          <p:nvPr/>
        </p:nvSpPr>
        <p:spPr>
          <a:xfrm>
            <a:off x="6654240" y="6097680"/>
            <a:ext cx="4731120" cy="2192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SysV SHM </a:t>
            </a:r>
            <a:r>
              <a:rPr b="0" lang="zh-CN" sz="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从 </a:t>
            </a:r>
            <a:r>
              <a:rPr b="0" lang="en-US" sz="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shmget</a:t>
            </a:r>
            <a:r>
              <a:rPr b="0" lang="zh-CN" sz="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shmat</a:t>
            </a:r>
            <a:r>
              <a:rPr b="0" lang="zh-CN" sz="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IPC_RMID </a:t>
            </a:r>
            <a:r>
              <a:rPr b="0" lang="zh-CN" sz="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到最后一次 </a:t>
            </a:r>
            <a:r>
              <a:rPr b="0" lang="en-US" sz="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shmdt </a:t>
            </a:r>
            <a:r>
              <a:rPr b="0" lang="zh-CN" sz="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的生命周期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Body"/>
          <p:cNvSpPr/>
          <p:nvPr/>
        </p:nvSpPr>
        <p:spPr>
          <a:xfrm>
            <a:off x="1252080" y="1792440"/>
            <a:ext cx="4462920" cy="43275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4472c4"/>
            </a:solidFill>
            <a:prstDash val="dash"/>
            <a:miter/>
          </a:ln>
        </p:spPr>
        <p:style>
          <a:lnRef idx="0">
            <a:schemeClr val="accent1"/>
          </a:lnRef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79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核心问题</a:t>
            </a:r>
            <a:endParaRPr b="0" lang="en-US" sz="179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79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IPC </a:t>
            </a:r>
            <a:r>
              <a:rPr b="0" lang="zh-CN" sz="179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不只是创建对象，还要处理权限、等待、唤醒和生命周期</a:t>
            </a:r>
            <a:endParaRPr b="0" lang="en-US" sz="179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zh-CN" sz="179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共享内存删除后，新进程不能再 </a:t>
            </a:r>
            <a:r>
              <a:rPr b="0" lang="en-US" sz="179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attach</a:t>
            </a:r>
            <a:r>
              <a:rPr b="0" lang="zh-CN" sz="179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，旧进程仍要能继续访问</a:t>
            </a:r>
            <a:endParaRPr b="0" lang="en-US" sz="179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79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实现方式</a:t>
            </a:r>
            <a:endParaRPr b="0" lang="en-US" sz="179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79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System V SHM </a:t>
            </a:r>
            <a:r>
              <a:rPr b="0" lang="zh-CN" sz="179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使用活动表和延迟释放机制</a:t>
            </a:r>
            <a:endParaRPr b="0" lang="en-US" sz="179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zh-CN" sz="179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最后一次 </a:t>
            </a:r>
            <a:r>
              <a:rPr b="0" lang="en-US" sz="179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detach </a:t>
            </a:r>
            <a:r>
              <a:rPr b="0" lang="zh-CN" sz="179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或进程退出后再释放物理页</a:t>
            </a:r>
            <a:endParaRPr b="0" lang="en-US" sz="179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zh-CN" sz="179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信号在返回用户态前统一检查和递交</a:t>
            </a:r>
            <a:endParaRPr b="0" lang="en-US" sz="179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79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好处：避免资源过早释放，也避免删除后的对象被新进程继续使用</a:t>
            </a:r>
            <a:endParaRPr b="0" lang="en-US" sz="179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3" name="StarryXStyle-header-logo" descr=""/>
          <p:cNvPicPr/>
          <p:nvPr/>
        </p:nvPicPr>
        <p:blipFill>
          <a:blip r:embed="rId2"/>
          <a:stretch/>
        </p:blipFill>
        <p:spPr>
          <a:xfrm>
            <a:off x="150120" y="119880"/>
            <a:ext cx="2548440" cy="608400"/>
          </a:xfrm>
          <a:prstGeom prst="rect">
            <a:avLst/>
          </a:prstGeom>
          <a:ln w="0">
            <a:noFill/>
          </a:ln>
        </p:spPr>
      </p:pic>
      <p:sp>
        <p:nvSpPr>
          <p:cNvPr id="324" name="StarryXStyle-nav-active"/>
          <p:cNvSpPr/>
          <p:nvPr/>
        </p:nvSpPr>
        <p:spPr>
          <a:xfrm>
            <a:off x="8638200" y="0"/>
            <a:ext cx="1083240" cy="7084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StarryXStyle-nav-1"/>
          <p:cNvSpPr/>
          <p:nvPr/>
        </p:nvSpPr>
        <p:spPr>
          <a:xfrm>
            <a:off x="429984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项目概况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tarryXStyle-nav-2"/>
          <p:cNvSpPr/>
          <p:nvPr/>
        </p:nvSpPr>
        <p:spPr>
          <a:xfrm>
            <a:off x="538452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成果展示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tarryXStyle-nav-3"/>
          <p:cNvSpPr/>
          <p:nvPr/>
        </p:nvSpPr>
        <p:spPr>
          <a:xfrm>
            <a:off x="6469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架构兼容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tarryXStyle-nav-4"/>
          <p:cNvSpPr/>
          <p:nvPr/>
        </p:nvSpPr>
        <p:spPr>
          <a:xfrm>
            <a:off x="7553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内存进程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tarryXStyle-nav-5"/>
          <p:cNvSpPr/>
          <p:nvPr/>
        </p:nvSpPr>
        <p:spPr>
          <a:xfrm>
            <a:off x="8638200" y="19008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文件</a:t>
            </a:r>
            <a:r>
              <a:rPr b="1" lang="en-US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IPC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tarryXStyle-nav-6"/>
          <p:cNvSpPr/>
          <p:nvPr/>
        </p:nvSpPr>
        <p:spPr>
          <a:xfrm>
            <a:off x="9722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网络多架构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tarryXStyle-nav-7"/>
          <p:cNvSpPr/>
          <p:nvPr/>
        </p:nvSpPr>
        <p:spPr>
          <a:xfrm>
            <a:off x="1080756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总结展望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tarryXStyle-title-marker"/>
          <p:cNvSpPr/>
          <p:nvPr/>
        </p:nvSpPr>
        <p:spPr>
          <a:xfrm>
            <a:off x="529920" y="1239840"/>
            <a:ext cx="1684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50" spc="-1" strike="noStrike">
                <a:solidFill>
                  <a:srgbClr val="111111"/>
                </a:solidFill>
                <a:latin typeface="Microsoft YaHei"/>
                <a:ea typeface="Microsoft YaHei"/>
              </a:rPr>
              <a:t>&gt;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StarryXTransition-bg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tarryXTransition-blue-band"/>
          <p:cNvSpPr/>
          <p:nvPr/>
        </p:nvSpPr>
        <p:spPr>
          <a:xfrm>
            <a:off x="0" y="0"/>
            <a:ext cx="12190680" cy="37360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StarryXTransition-blue-shadow"/>
          <p:cNvSpPr/>
          <p:nvPr/>
        </p:nvSpPr>
        <p:spPr>
          <a:xfrm>
            <a:off x="0" y="3669120"/>
            <a:ext cx="12190680" cy="26640"/>
          </a:xfrm>
          <a:prstGeom prst="rect">
            <a:avLst/>
          </a:prstGeom>
          <a:solidFill>
            <a:srgbClr val="00649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920" bIns="-1692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36" name="StarryXTransition-cscc-logo" descr=""/>
          <p:cNvPicPr/>
          <p:nvPr/>
        </p:nvPicPr>
        <p:blipFill>
          <a:blip r:embed="rId1"/>
          <a:stretch/>
        </p:blipFill>
        <p:spPr>
          <a:xfrm>
            <a:off x="97560" y="219600"/>
            <a:ext cx="2949120" cy="608760"/>
          </a:xfrm>
          <a:prstGeom prst="rect">
            <a:avLst/>
          </a:prstGeom>
          <a:ln w="0">
            <a:noFill/>
          </a:ln>
        </p:spPr>
      </p:pic>
      <p:pic>
        <p:nvPicPr>
          <p:cNvPr id="337" name="StarryXTransition-hzdu-logo" descr=""/>
          <p:cNvPicPr/>
          <p:nvPr/>
        </p:nvPicPr>
        <p:blipFill>
          <a:blip r:embed="rId2"/>
          <a:stretch/>
        </p:blipFill>
        <p:spPr>
          <a:xfrm>
            <a:off x="8558640" y="102960"/>
            <a:ext cx="3546360" cy="828360"/>
          </a:xfrm>
          <a:prstGeom prst="rect">
            <a:avLst/>
          </a:prstGeom>
          <a:ln w="0">
            <a:noFill/>
          </a:ln>
        </p:spPr>
      </p:pic>
      <p:sp>
        <p:nvSpPr>
          <p:cNvPr id="338" name="StarryXTransition-part-hex"/>
          <p:cNvSpPr/>
          <p:nvPr/>
        </p:nvSpPr>
        <p:spPr>
          <a:xfrm>
            <a:off x="5157360" y="2983320"/>
            <a:ext cx="1875960" cy="154224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9ec7f1"/>
          </a:solidFill>
          <a:ln w="220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tarryXTransition-part-text"/>
          <p:cNvSpPr/>
          <p:nvPr/>
        </p:nvSpPr>
        <p:spPr>
          <a:xfrm>
            <a:off x="5157360" y="3633120"/>
            <a:ext cx="1875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70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Part.06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tarryXTransition-title"/>
          <p:cNvSpPr/>
          <p:nvPr/>
        </p:nvSpPr>
        <p:spPr>
          <a:xfrm>
            <a:off x="1219320" y="4526280"/>
            <a:ext cx="9752040" cy="10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420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网络与多架构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rect 52"/>
          <p:cNvSpPr/>
          <p:nvPr/>
        </p:nvSpPr>
        <p:spPr>
          <a:xfrm>
            <a:off x="1800" y="0"/>
            <a:ext cx="121888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42" name="Title"/>
          <p:cNvSpPr/>
          <p:nvPr/>
        </p:nvSpPr>
        <p:spPr>
          <a:xfrm>
            <a:off x="650160" y="1187280"/>
            <a:ext cx="10017360" cy="4327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zh-CN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网络与 </a:t>
            </a:r>
            <a:r>
              <a:rPr b="1" lang="en-US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Socket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Body"/>
          <p:cNvSpPr/>
          <p:nvPr/>
        </p:nvSpPr>
        <p:spPr>
          <a:xfrm>
            <a:off x="1136520" y="1938600"/>
            <a:ext cx="4615560" cy="354060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4472c4"/>
            </a:solidFill>
            <a:prstDash val="dash"/>
            <a:miter/>
          </a:ln>
        </p:spPr>
        <p:style>
          <a:lnRef idx="0">
            <a:schemeClr val="accent1"/>
          </a:lnRef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核心思路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底层复用 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axnet / smoltcp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上层实现 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socket ABI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socket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也纳入 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ProcessFdTable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作用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socket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可以和文件、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pipe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一起参与 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poll / epoll / select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网络 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syscall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只负责 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语义翻译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TCP / UDP /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本地 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socket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接入统一的用户态运行环境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4" name="orays-07-network.png" descr=""/>
          <p:cNvPicPr/>
          <p:nvPr/>
        </p:nvPicPr>
        <p:blipFill>
          <a:blip r:embed="rId1"/>
          <a:stretch/>
        </p:blipFill>
        <p:spPr>
          <a:xfrm>
            <a:off x="6193080" y="1607400"/>
            <a:ext cx="4812480" cy="4361760"/>
          </a:xfrm>
          <a:prstGeom prst="rect">
            <a:avLst/>
          </a:prstGeom>
          <a:ln w="0">
            <a:noFill/>
          </a:ln>
        </p:spPr>
      </p:pic>
      <p:sp>
        <p:nvSpPr>
          <p:cNvPr id="345" name="Caption"/>
          <p:cNvSpPr/>
          <p:nvPr/>
        </p:nvSpPr>
        <p:spPr>
          <a:xfrm>
            <a:off x="6447600" y="6120000"/>
            <a:ext cx="4892400" cy="2235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socket syscall </a:t>
            </a:r>
            <a:r>
              <a:rPr b="0" lang="zh-CN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到 </a:t>
            </a:r>
            <a:r>
              <a:rPr b="0" lang="en-US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fd_socket.rs</a:t>
            </a:r>
            <a:r>
              <a:rPr b="0" lang="zh-CN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axnet</a:t>
            </a:r>
            <a:r>
              <a:rPr b="0" lang="zh-CN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smoltcp</a:t>
            </a:r>
            <a:r>
              <a:rPr b="0" lang="zh-CN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VirtIO net </a:t>
            </a:r>
            <a:r>
              <a:rPr b="0" lang="zh-CN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的桥接路径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6" name="StarryXStyle-header-logo" descr=""/>
          <p:cNvPicPr/>
          <p:nvPr/>
        </p:nvPicPr>
        <p:blipFill>
          <a:blip r:embed="rId2"/>
          <a:stretch/>
        </p:blipFill>
        <p:spPr>
          <a:xfrm>
            <a:off x="150120" y="119880"/>
            <a:ext cx="2548440" cy="608400"/>
          </a:xfrm>
          <a:prstGeom prst="rect">
            <a:avLst/>
          </a:prstGeom>
          <a:ln w="0">
            <a:noFill/>
          </a:ln>
        </p:spPr>
      </p:pic>
      <p:sp>
        <p:nvSpPr>
          <p:cNvPr id="347" name="StarryXStyle-nav-active"/>
          <p:cNvSpPr/>
          <p:nvPr/>
        </p:nvSpPr>
        <p:spPr>
          <a:xfrm>
            <a:off x="9722880" y="0"/>
            <a:ext cx="1083240" cy="7084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StarryXStyle-nav-1"/>
          <p:cNvSpPr/>
          <p:nvPr/>
        </p:nvSpPr>
        <p:spPr>
          <a:xfrm>
            <a:off x="429984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项目概况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tarryXStyle-nav-2"/>
          <p:cNvSpPr/>
          <p:nvPr/>
        </p:nvSpPr>
        <p:spPr>
          <a:xfrm>
            <a:off x="538452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成果展示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tarryXStyle-nav-3"/>
          <p:cNvSpPr/>
          <p:nvPr/>
        </p:nvSpPr>
        <p:spPr>
          <a:xfrm>
            <a:off x="6469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架构兼容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tarryXStyle-nav-4"/>
          <p:cNvSpPr/>
          <p:nvPr/>
        </p:nvSpPr>
        <p:spPr>
          <a:xfrm>
            <a:off x="7553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内存进程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tarryXStyle-nav-5"/>
          <p:cNvSpPr/>
          <p:nvPr/>
        </p:nvSpPr>
        <p:spPr>
          <a:xfrm>
            <a:off x="8638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文件</a:t>
            </a:r>
            <a:r>
              <a:rPr b="0" lang="en-US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IPC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tarryXStyle-nav-6"/>
          <p:cNvSpPr/>
          <p:nvPr/>
        </p:nvSpPr>
        <p:spPr>
          <a:xfrm>
            <a:off x="9722880" y="19008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网络多架构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tarryXStyle-nav-7"/>
          <p:cNvSpPr/>
          <p:nvPr/>
        </p:nvSpPr>
        <p:spPr>
          <a:xfrm>
            <a:off x="1080756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总结展望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tarryXStyle-title-marker"/>
          <p:cNvSpPr/>
          <p:nvPr/>
        </p:nvSpPr>
        <p:spPr>
          <a:xfrm>
            <a:off x="529920" y="1239840"/>
            <a:ext cx="1684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50" spc="-1" strike="noStrike">
                <a:solidFill>
                  <a:srgbClr val="111111"/>
                </a:solidFill>
                <a:latin typeface="Microsoft YaHei"/>
                <a:ea typeface="Microsoft YaHei"/>
              </a:rPr>
              <a:t>&gt;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rect 52"/>
          <p:cNvSpPr/>
          <p:nvPr/>
        </p:nvSpPr>
        <p:spPr>
          <a:xfrm>
            <a:off x="1800" y="0"/>
            <a:ext cx="121888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57" name="Title"/>
          <p:cNvSpPr/>
          <p:nvPr/>
        </p:nvSpPr>
        <p:spPr>
          <a:xfrm>
            <a:off x="650160" y="1187280"/>
            <a:ext cx="10017360" cy="4327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zh-CN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多架构支持：</a:t>
            </a:r>
            <a:r>
              <a:rPr b="1" lang="en-US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RV64 </a:t>
            </a:r>
            <a:r>
              <a:rPr b="1" lang="zh-CN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与 </a:t>
            </a:r>
            <a:r>
              <a:rPr b="1" lang="en-US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LA64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Body"/>
          <p:cNvSpPr/>
          <p:nvPr/>
        </p:nvSpPr>
        <p:spPr>
          <a:xfrm>
            <a:off x="1136520" y="1938600"/>
            <a:ext cx="4615560" cy="385308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4472c4"/>
            </a:solidFill>
            <a:prstDash val="dash"/>
            <a:miter/>
          </a:ln>
        </p:spPr>
        <p:style>
          <a:lnRef idx="0">
            <a:schemeClr val="accent1"/>
          </a:lnRef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RISC-V64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：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QEMU virt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MMIO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总线、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VirtIO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设备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LoongArch64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：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QEMU virt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PCI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总线、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VirtIO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设备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两套架构不同的是启动、总线、页表和链接配置。不应该重复实现两套 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syscall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。平台差异集中在 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axhal / axplat / axcpu / axconfig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。上层 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syscall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、进程、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FD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mmap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IPC </a:t>
            </a:r>
            <a:r>
              <a:rPr b="0" lang="zh-CN" sz="185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尽量共用。这样可以降低双架构维护成本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9" name="orays-08-hal-driver.png" descr=""/>
          <p:cNvPicPr/>
          <p:nvPr/>
        </p:nvPicPr>
        <p:blipFill>
          <a:blip r:embed="rId1"/>
          <a:stretch/>
        </p:blipFill>
        <p:spPr>
          <a:xfrm>
            <a:off x="6139440" y="1721160"/>
            <a:ext cx="4865760" cy="4352760"/>
          </a:xfrm>
          <a:prstGeom prst="rect">
            <a:avLst/>
          </a:prstGeom>
          <a:ln w="0">
            <a:noFill/>
          </a:ln>
        </p:spPr>
      </p:pic>
      <p:sp>
        <p:nvSpPr>
          <p:cNvPr id="360" name="Caption"/>
          <p:cNvSpPr/>
          <p:nvPr/>
        </p:nvSpPr>
        <p:spPr>
          <a:xfrm>
            <a:off x="6840000" y="6255720"/>
            <a:ext cx="6840000" cy="224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zh-CN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内核模块调用 </a:t>
            </a:r>
            <a:r>
              <a:rPr b="0" lang="en-US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axhal</a:t>
            </a:r>
            <a:r>
              <a:rPr b="0" lang="zh-CN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，再进入 </a:t>
            </a:r>
            <a:r>
              <a:rPr b="0" lang="en-US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axcpu</a:t>
            </a:r>
            <a:r>
              <a:rPr b="0" lang="zh-CN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axplat</a:t>
            </a:r>
            <a:r>
              <a:rPr b="0" lang="zh-CN" sz="880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、总线与驱动探测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1" name="StarryXStyle-header-logo" descr=""/>
          <p:cNvPicPr/>
          <p:nvPr/>
        </p:nvPicPr>
        <p:blipFill>
          <a:blip r:embed="rId2"/>
          <a:stretch/>
        </p:blipFill>
        <p:spPr>
          <a:xfrm>
            <a:off x="150120" y="119880"/>
            <a:ext cx="2548440" cy="608400"/>
          </a:xfrm>
          <a:prstGeom prst="rect">
            <a:avLst/>
          </a:prstGeom>
          <a:ln w="0">
            <a:noFill/>
          </a:ln>
        </p:spPr>
      </p:pic>
      <p:sp>
        <p:nvSpPr>
          <p:cNvPr id="362" name="StarryXStyle-nav-active"/>
          <p:cNvSpPr/>
          <p:nvPr/>
        </p:nvSpPr>
        <p:spPr>
          <a:xfrm>
            <a:off x="9722880" y="0"/>
            <a:ext cx="1083240" cy="7084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StarryXStyle-nav-1"/>
          <p:cNvSpPr/>
          <p:nvPr/>
        </p:nvSpPr>
        <p:spPr>
          <a:xfrm>
            <a:off x="429984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项目概况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tarryXStyle-nav-2"/>
          <p:cNvSpPr/>
          <p:nvPr/>
        </p:nvSpPr>
        <p:spPr>
          <a:xfrm>
            <a:off x="538452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成果展示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tarryXStyle-nav-3"/>
          <p:cNvSpPr/>
          <p:nvPr/>
        </p:nvSpPr>
        <p:spPr>
          <a:xfrm>
            <a:off x="6469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架构兼容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tarryXStyle-nav-4"/>
          <p:cNvSpPr/>
          <p:nvPr/>
        </p:nvSpPr>
        <p:spPr>
          <a:xfrm>
            <a:off x="7553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内存进程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tarryXStyle-nav-5"/>
          <p:cNvSpPr/>
          <p:nvPr/>
        </p:nvSpPr>
        <p:spPr>
          <a:xfrm>
            <a:off x="8638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文件</a:t>
            </a:r>
            <a:r>
              <a:rPr b="0" lang="en-US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IPC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tarryXStyle-nav-6"/>
          <p:cNvSpPr/>
          <p:nvPr/>
        </p:nvSpPr>
        <p:spPr>
          <a:xfrm>
            <a:off x="9722880" y="19008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网络多架构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tarryXStyle-nav-7"/>
          <p:cNvSpPr/>
          <p:nvPr/>
        </p:nvSpPr>
        <p:spPr>
          <a:xfrm>
            <a:off x="1080756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总结展望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tarryXStyle-title-marker"/>
          <p:cNvSpPr/>
          <p:nvPr/>
        </p:nvSpPr>
        <p:spPr>
          <a:xfrm>
            <a:off x="529920" y="1239840"/>
            <a:ext cx="1684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50" spc="-1" strike="noStrike">
                <a:solidFill>
                  <a:srgbClr val="111111"/>
                </a:solidFill>
                <a:latin typeface="Microsoft YaHei"/>
                <a:ea typeface="Microsoft YaHei"/>
              </a:rPr>
              <a:t>&gt;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tarryXTransition-bg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tarryXTransition-blue-band"/>
          <p:cNvSpPr/>
          <p:nvPr/>
        </p:nvSpPr>
        <p:spPr>
          <a:xfrm>
            <a:off x="0" y="0"/>
            <a:ext cx="12190680" cy="37360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StarryXTransition-blue-shadow"/>
          <p:cNvSpPr/>
          <p:nvPr/>
        </p:nvSpPr>
        <p:spPr>
          <a:xfrm>
            <a:off x="0" y="3669120"/>
            <a:ext cx="12190680" cy="26640"/>
          </a:xfrm>
          <a:prstGeom prst="rect">
            <a:avLst/>
          </a:prstGeom>
          <a:solidFill>
            <a:srgbClr val="00649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920" bIns="-1692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74" name="StarryXTransition-cscc-logo" descr=""/>
          <p:cNvPicPr/>
          <p:nvPr/>
        </p:nvPicPr>
        <p:blipFill>
          <a:blip r:embed="rId1"/>
          <a:stretch/>
        </p:blipFill>
        <p:spPr>
          <a:xfrm>
            <a:off x="97560" y="219600"/>
            <a:ext cx="2949120" cy="608760"/>
          </a:xfrm>
          <a:prstGeom prst="rect">
            <a:avLst/>
          </a:prstGeom>
          <a:ln w="0">
            <a:noFill/>
          </a:ln>
        </p:spPr>
      </p:pic>
      <p:pic>
        <p:nvPicPr>
          <p:cNvPr id="375" name="StarryXTransition-hzdu-logo" descr=""/>
          <p:cNvPicPr/>
          <p:nvPr/>
        </p:nvPicPr>
        <p:blipFill>
          <a:blip r:embed="rId2"/>
          <a:stretch/>
        </p:blipFill>
        <p:spPr>
          <a:xfrm>
            <a:off x="8558640" y="102960"/>
            <a:ext cx="3546360" cy="828360"/>
          </a:xfrm>
          <a:prstGeom prst="rect">
            <a:avLst/>
          </a:prstGeom>
          <a:ln w="0">
            <a:noFill/>
          </a:ln>
        </p:spPr>
      </p:pic>
      <p:sp>
        <p:nvSpPr>
          <p:cNvPr id="376" name="StarryXTransition-part-hex"/>
          <p:cNvSpPr/>
          <p:nvPr/>
        </p:nvSpPr>
        <p:spPr>
          <a:xfrm>
            <a:off x="5157360" y="2983320"/>
            <a:ext cx="1875960" cy="154224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9ec7f1"/>
          </a:solidFill>
          <a:ln w="220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tarryXTransition-part-text"/>
          <p:cNvSpPr/>
          <p:nvPr/>
        </p:nvSpPr>
        <p:spPr>
          <a:xfrm>
            <a:off x="5157360" y="3633120"/>
            <a:ext cx="1875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70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Part.07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tarryXTransition-title"/>
          <p:cNvSpPr/>
          <p:nvPr/>
        </p:nvSpPr>
        <p:spPr>
          <a:xfrm>
            <a:off x="1219320" y="4526280"/>
            <a:ext cx="9752040" cy="10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420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总结展望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 52"/>
          <p:cNvSpPr/>
          <p:nvPr/>
        </p:nvSpPr>
        <p:spPr>
          <a:xfrm>
            <a:off x="1800" y="0"/>
            <a:ext cx="12188880" cy="68565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80" name="Title"/>
          <p:cNvSpPr/>
          <p:nvPr/>
        </p:nvSpPr>
        <p:spPr>
          <a:xfrm>
            <a:off x="650160" y="1187280"/>
            <a:ext cx="10197720" cy="4327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zh-CN" sz="2250" spc="-1" strike="noStrike">
                <a:solidFill>
                  <a:srgbClr val="0078bd"/>
                </a:solidFill>
                <a:latin typeface="Microsoft YaHei"/>
                <a:ea typeface="Microsoft YaHei"/>
              </a:rPr>
              <a:t>总结与展望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Body"/>
          <p:cNvSpPr/>
          <p:nvPr/>
        </p:nvSpPr>
        <p:spPr>
          <a:xfrm>
            <a:off x="1234440" y="2124360"/>
            <a:ext cx="9774720" cy="327564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4472c4"/>
            </a:solidFill>
            <a:prstDash val="dash"/>
            <a:miter/>
          </a:ln>
        </p:spPr>
        <p:style>
          <a:lnRef idx="0">
            <a:schemeClr val="accent1"/>
          </a:lnRef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当前成果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保留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ArceOS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组件化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crate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架构、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feature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裁剪和跨架构平台抽象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Linux/POSIX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兼容边界覆盖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syscall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分发、用户指针、进程、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FD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、信号、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IPC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mmap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futex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和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socket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等关键路径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形成从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ELF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加载、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trap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分发、地址空间、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FD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表到内核服务调用的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Linux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程序运行闭环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后续方向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继续完善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syscall errno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细节、用户指针 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copy-in/copy-out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FD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生命周期、信号交付、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mmap/COW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、</a:t>
            </a:r>
            <a:r>
              <a:rPr b="0" lang="en-US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futex </a:t>
            </a: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和网络阻塞行为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zh-CN" sz="1879" spc="-1" strike="noStrike">
                <a:solidFill>
                  <a:schemeClr val="dk1"/>
                </a:solidFill>
                <a:latin typeface="Microsoft YaHei"/>
                <a:ea typeface="Microsoft YaHei"/>
              </a:rPr>
              <a:t>扩展文件系统写入能力、日志恢复和硬件驱动验证</a:t>
            </a:r>
            <a:endParaRPr b="0" lang="en-US" sz="1879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2" name="StarryXStyle-header-logo" descr=""/>
          <p:cNvPicPr/>
          <p:nvPr/>
        </p:nvPicPr>
        <p:blipFill>
          <a:blip r:embed="rId1"/>
          <a:stretch/>
        </p:blipFill>
        <p:spPr>
          <a:xfrm>
            <a:off x="150120" y="119880"/>
            <a:ext cx="2548440" cy="608400"/>
          </a:xfrm>
          <a:prstGeom prst="rect">
            <a:avLst/>
          </a:prstGeom>
          <a:ln w="0">
            <a:noFill/>
          </a:ln>
        </p:spPr>
      </p:pic>
      <p:sp>
        <p:nvSpPr>
          <p:cNvPr id="383" name="StarryXStyle-nav-active"/>
          <p:cNvSpPr/>
          <p:nvPr/>
        </p:nvSpPr>
        <p:spPr>
          <a:xfrm>
            <a:off x="10807560" y="0"/>
            <a:ext cx="1083240" cy="708480"/>
          </a:xfrm>
          <a:prstGeom prst="rect">
            <a:avLst/>
          </a:prstGeom>
          <a:solidFill>
            <a:srgbClr val="0078b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StarryXStyle-nav-1"/>
          <p:cNvSpPr/>
          <p:nvPr/>
        </p:nvSpPr>
        <p:spPr>
          <a:xfrm>
            <a:off x="429984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项目概况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tarryXStyle-nav-2"/>
          <p:cNvSpPr/>
          <p:nvPr/>
        </p:nvSpPr>
        <p:spPr>
          <a:xfrm>
            <a:off x="538452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成果展示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tarryXStyle-nav-3"/>
          <p:cNvSpPr/>
          <p:nvPr/>
        </p:nvSpPr>
        <p:spPr>
          <a:xfrm>
            <a:off x="6469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架构兼容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tarryXStyle-nav-4"/>
          <p:cNvSpPr/>
          <p:nvPr/>
        </p:nvSpPr>
        <p:spPr>
          <a:xfrm>
            <a:off x="7553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内存进程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StarryXStyle-nav-5"/>
          <p:cNvSpPr/>
          <p:nvPr/>
        </p:nvSpPr>
        <p:spPr>
          <a:xfrm>
            <a:off x="863820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文件</a:t>
            </a:r>
            <a:r>
              <a:rPr b="0" lang="en-US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IPC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tarryXStyle-nav-6"/>
          <p:cNvSpPr/>
          <p:nvPr/>
        </p:nvSpPr>
        <p:spPr>
          <a:xfrm>
            <a:off x="9722880" y="24516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zh-CN" sz="980" spc="-1" strike="noStrike">
                <a:solidFill>
                  <a:srgbClr val="555555"/>
                </a:solidFill>
                <a:latin typeface="Microsoft YaHei"/>
                <a:ea typeface="Microsoft YaHei"/>
              </a:rPr>
              <a:t>网络多架构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tarryXStyle-nav-7"/>
          <p:cNvSpPr/>
          <p:nvPr/>
        </p:nvSpPr>
        <p:spPr>
          <a:xfrm>
            <a:off x="10807560" y="190080"/>
            <a:ext cx="1083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98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总结展望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tarryXStyle-title-marker"/>
          <p:cNvSpPr/>
          <p:nvPr/>
        </p:nvSpPr>
        <p:spPr>
          <a:xfrm>
            <a:off x="529920" y="1239840"/>
            <a:ext cx="1684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50" spc="-1" strike="noStrike">
                <a:solidFill>
                  <a:srgbClr val="111111"/>
                </a:solidFill>
                <a:latin typeface="Microsoft YaHei"/>
                <a:ea typeface="Microsoft YaHei"/>
              </a:rPr>
              <a:t>&gt;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05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9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shade val="94000"/>
              </a:schemeClr>
            </a:gs>
            <a:gs pos="50000">
              <a:schemeClr val="phClr">
                <a:lumMod val="110000"/>
                <a:tint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1_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1_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1_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1_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1_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1_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1_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1_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1_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1_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1_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2_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3_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itchFamily="0" charset="1"/>
        <a:ea typeface=""/>
        <a:cs typeface=""/>
      </a:majorFont>
      <a:minorFont>
        <a:latin typeface="等线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05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9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shade val="94000"/>
              </a:schemeClr>
            </a:gs>
            <a:gs pos="50000">
              <a:schemeClr val="phClr">
                <a:lumMod val="110000"/>
                <a:tint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LibreOffice/24.2.7.2$Linux_X86_64 LibreOffice_project/420$Build-2</Application>
  <AppVersion>15.0000</AppVersion>
  <Words>3291</Words>
  <Paragraphs>167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2026-06-29T16:20:02Z</dcterms:created>
  <dc:creator>dragonhh</dc:creator>
  <dc:description/>
  <dc:language>zh-CN</dc:language>
  <cp:lastModifiedBy/>
  <dcterms:modified xsi:type="dcterms:W3CDTF">2026-06-30T02:53:02Z</dcterms:modified>
  <cp:revision>115</cp:revision>
  <dc:subject/>
  <dc:title>分享会报告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E4881EF94BA141BDB00A651D51236C20_12</vt:lpwstr>
  </property>
  <property fmtid="{D5CDD505-2E9C-101B-9397-08002B2CF9AE}" pid="3" name="KSOProductBuildVer">
    <vt:lpwstr>2052-12.1.2.26885</vt:lpwstr>
  </property>
  <property fmtid="{D5CDD505-2E9C-101B-9397-08002B2CF9AE}" pid="4" name="Notes">
    <vt:i4>3</vt:i4>
  </property>
  <property fmtid="{D5CDD505-2E9C-101B-9397-08002B2CF9AE}" pid="5" name="PresentationFormat">
    <vt:lpwstr>宽屏</vt:lpwstr>
  </property>
  <property fmtid="{D5CDD505-2E9C-101B-9397-08002B2CF9AE}" pid="6" name="Slides">
    <vt:i4>22</vt:i4>
  </property>
</Properties>
</file>